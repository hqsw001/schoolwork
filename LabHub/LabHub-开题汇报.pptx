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77" y="-3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5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881360" y="4572000"/>
            <a:ext cx="2926080" cy="2926080"/>
          </a:xfrm>
          <a:prstGeom prst="ellipse">
            <a:avLst/>
          </a:prstGeom>
          <a:solidFill>
            <a:srgbClr val="15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143000"/>
            <a:ext cx="91440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90CAF9"/>
                </a:solidFill>
                <a:latin typeface="微软雅黑"/>
                <a:ea typeface="微软雅黑"/>
              </a:rPr>
              <a:t>软件课程设计 ｜ 第一周开题汇报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5000" b="1">
                <a:solidFill>
                  <a:srgbClr val="FFFFFF"/>
                </a:solidFill>
                <a:latin typeface="微软雅黑"/>
                <a:ea typeface="微软雅黑"/>
              </a:rPr>
              <a:t>智汇实验室 LabHub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0">
                <a:solidFill>
                  <a:srgbClr val="BBDEFB"/>
                </a:solidFill>
                <a:latin typeface="微软雅黑"/>
                <a:ea typeface="微软雅黑"/>
              </a:rPr>
              <a:t>高校实验室仪器设备预约与运维管理平台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3401568"/>
            <a:ext cx="3657600" cy="0"/>
          </a:xfrm>
          <a:prstGeom prst="line">
            <a:avLst/>
          </a:prstGeom>
          <a:ln w="3175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3639312"/>
            <a:ext cx="10058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E3F2FD"/>
                </a:solidFill>
                <a:latin typeface="微软雅黑"/>
                <a:ea typeface="微软雅黑"/>
              </a:rPr>
              <a:t>把管理动作从「事后登记」前移到「事前调度」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E3F2FD"/>
                </a:solidFill>
                <a:latin typeface="微软雅黑"/>
                <a:ea typeface="微软雅黑"/>
              </a:rPr>
              <a:t>让设备争抢在系统层面被消灭，让报修不再石沉大海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846320"/>
            <a:ext cx="1847088" cy="822960"/>
          </a:xfrm>
          <a:prstGeom prst="roundRect">
            <a:avLst>
              <a:gd name="adj" fmla="val 16000"/>
            </a:avLst>
          </a:prstGeom>
          <a:solidFill>
            <a:srgbClr val="15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974336"/>
            <a:ext cx="1847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0CAF9"/>
                </a:solidFill>
                <a:latin typeface="微软雅黑"/>
                <a:ea typeface="微软雅黑"/>
              </a:rPr>
              <a:t>团队规模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30368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4 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35808" y="4846320"/>
            <a:ext cx="1847088" cy="822960"/>
          </a:xfrm>
          <a:prstGeom prst="roundRect">
            <a:avLst>
              <a:gd name="adj" fmla="val 16000"/>
            </a:avLst>
          </a:prstGeom>
          <a:solidFill>
            <a:srgbClr val="15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35808" y="4974336"/>
            <a:ext cx="1847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0CAF9"/>
                </a:solidFill>
                <a:latin typeface="微软雅黑"/>
                <a:ea typeface="微软雅黑"/>
              </a:rPr>
              <a:t>课程学时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5230368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32 学时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7216" y="4846320"/>
            <a:ext cx="1847088" cy="822960"/>
          </a:xfrm>
          <a:prstGeom prst="roundRect">
            <a:avLst>
              <a:gd name="adj" fmla="val 16000"/>
            </a:avLst>
          </a:prstGeom>
          <a:solidFill>
            <a:srgbClr val="15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57216" y="4974336"/>
            <a:ext cx="1847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0CAF9"/>
                </a:solidFill>
                <a:latin typeface="微软雅黑"/>
                <a:ea typeface="微软雅黑"/>
              </a:rPr>
              <a:t>核心模块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5230368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8 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78623" y="4846320"/>
            <a:ext cx="1847088" cy="822960"/>
          </a:xfrm>
          <a:prstGeom prst="roundRect">
            <a:avLst>
              <a:gd name="adj" fmla="val 16000"/>
            </a:avLst>
          </a:prstGeom>
          <a:solidFill>
            <a:srgbClr val="15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78623" y="4974336"/>
            <a:ext cx="18470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90CAF9"/>
                </a:solidFill>
                <a:latin typeface="微软雅黑"/>
                <a:ea typeface="微软雅黑"/>
              </a:rPr>
              <a:t>功能点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8623" y="5230368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42 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053328"/>
            <a:ext cx="10058400" cy="228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 b="0" dirty="0" err="1">
                <a:solidFill>
                  <a:srgbClr val="90CAF9"/>
                </a:solidFill>
                <a:latin typeface="微软雅黑"/>
                <a:ea typeface="微软雅黑"/>
              </a:rPr>
              <a:t>汇报人</a:t>
            </a:r>
            <a:r>
              <a:rPr sz="1250" b="0" dirty="0">
                <a:solidFill>
                  <a:srgbClr val="90CAF9"/>
                </a:solidFill>
                <a:latin typeface="微软雅黑"/>
                <a:ea typeface="微软雅黑"/>
              </a:rPr>
              <a:t>：</a:t>
            </a:r>
            <a:r>
              <a:rPr lang="zh-CN" altLang="en-US" sz="1400" dirty="0">
                <a:solidFill>
                  <a:srgbClr val="90CAF9"/>
                </a:solidFill>
                <a:latin typeface="微软雅黑"/>
                <a:ea typeface="微软雅黑"/>
              </a:rPr>
              <a:t>张龙飞  黄子安  杭咏毅  周鹏波　</a:t>
            </a:r>
            <a:r>
              <a:rPr sz="1250" b="0" dirty="0">
                <a:solidFill>
                  <a:srgbClr val="90CAF9"/>
                </a:solidFill>
                <a:latin typeface="微软雅黑"/>
                <a:ea typeface="微软雅黑"/>
              </a:rPr>
              <a:t>｜　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D47A1"/>
                </a:solidFill>
                <a:latin typeface="微软雅黑"/>
                <a:ea typeface="微软雅黑"/>
              </a:rPr>
              <a:t>汇报提纲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46E7A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2700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188720" y="1691640"/>
            <a:ext cx="3200400" cy="16642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88720" y="1691640"/>
            <a:ext cx="3200400" cy="82296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44752" y="1984248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E65100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53288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63238"/>
                </a:solidFill>
                <a:latin typeface="微软雅黑"/>
                <a:ea typeface="微软雅黑"/>
              </a:rPr>
              <a:t>课题背景与意义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8803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实验室管理的真实困境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8032" y="1691640"/>
            <a:ext cx="3200400" cy="16642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28032" y="1691640"/>
            <a:ext cx="3200400" cy="82296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84064" y="1984248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1976D2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4064" y="253288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63238"/>
                </a:solidFill>
                <a:latin typeface="微软雅黑"/>
                <a:ea typeface="微软雅黑"/>
              </a:rPr>
              <a:t>系统概述与方案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28803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四大能力，一个平台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67344" y="1691640"/>
            <a:ext cx="3200400" cy="16642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467344" y="1691640"/>
            <a:ext cx="3200400" cy="8229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23376" y="1984248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2E7D32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3376" y="253288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63238"/>
                </a:solidFill>
                <a:latin typeface="微软雅黑"/>
                <a:ea typeface="微软雅黑"/>
              </a:rPr>
              <a:t>功能模块与需求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3376" y="28803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8 个模块，42 个功能点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3813048"/>
            <a:ext cx="3200400" cy="16642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88720" y="3813048"/>
            <a:ext cx="3200400" cy="82296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44752" y="4105656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6A1B9A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4654296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63238"/>
                </a:solidFill>
                <a:latin typeface="微软雅黑"/>
                <a:ea typeface="微软雅黑"/>
              </a:rPr>
              <a:t>竞品调研分析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50017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现有方案各缺一半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28032" y="3813048"/>
            <a:ext cx="3200400" cy="16642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828032" y="3813048"/>
            <a:ext cx="3200400" cy="82296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84064" y="4105656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1976D2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84064" y="4654296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63238"/>
                </a:solidFill>
                <a:latin typeface="微软雅黑"/>
                <a:ea typeface="微软雅黑"/>
              </a:rPr>
              <a:t>需求建模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4064" y="50017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用例图与核心用例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67344" y="3813048"/>
            <a:ext cx="3200400" cy="16642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467344" y="3813048"/>
            <a:ext cx="3200400" cy="82296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23376" y="4105656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E65100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3376" y="4654296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63238"/>
                </a:solidFill>
                <a:latin typeface="微软雅黑"/>
                <a:ea typeface="微软雅黑"/>
              </a:rPr>
              <a:t>技术选型与可行性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23376" y="50017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选型、估算、风险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9EADB5"/>
                </a:solidFill>
                <a:latin typeface="微软雅黑"/>
                <a:ea typeface="微软雅黑"/>
              </a:rPr>
              <a:t>智汇实验室 LabHub ｜ 软件课程设计 第一周开题汇报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D47A1"/>
                </a:solidFill>
                <a:latin typeface="微软雅黑"/>
                <a:ea typeface="微软雅黑"/>
              </a:rPr>
              <a:t>课题背景：一个真实发生在实验室的场景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46E7A"/>
                </a:solidFill>
                <a:latin typeface="微软雅黑"/>
                <a:ea typeface="微软雅黑"/>
              </a:rPr>
              <a:t>选题来自实验中心的日常，不是凭空想出来的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2700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353312"/>
            <a:ext cx="6858000" cy="3931920"/>
          </a:xfrm>
          <a:prstGeom prst="roundRect">
            <a:avLst>
              <a:gd name="adj" fmla="val 3000"/>
            </a:avLst>
          </a:prstGeom>
          <a:solidFill>
            <a:srgbClr val="F7FAFD"/>
          </a:solidFill>
          <a:ln w="1270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353312"/>
            <a:ext cx="82296" cy="393192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554480"/>
            <a:ext cx="635508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200" b="0">
                <a:solidFill>
                  <a:srgbClr val="263238"/>
                </a:solidFill>
                <a:latin typeface="微软雅黑"/>
                <a:ea typeface="微软雅黑"/>
              </a:rPr>
              <a:t>大三学生张明要做嵌入式课程设计，需要一台数字示波器。</a:t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endParaRPr sz="1200" b="0">
              <a:solidFill>
                <a:srgbClr val="263238"/>
              </a:solidFill>
              <a:latin typeface="微软雅黑"/>
              <a:ea typeface="微软雅黑"/>
            </a:endParaRP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200" b="0">
                <a:solidFill>
                  <a:srgbClr val="263238"/>
                </a:solidFill>
                <a:latin typeface="微软雅黑"/>
                <a:ea typeface="微软雅黑"/>
              </a:rPr>
              <a:t>他先在班级群里问「谁在用示波器」——没人回应。跑到实验室，门上贴着一张纸质借用登记表，字迹已经模糊，看不出那台示波器到底在不在。</a:t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endParaRPr sz="1200" b="0">
              <a:solidFill>
                <a:srgbClr val="263238"/>
              </a:solidFill>
              <a:latin typeface="微软雅黑"/>
              <a:ea typeface="微软雅黑"/>
            </a:endParaRP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200" b="0">
                <a:solidFill>
                  <a:srgbClr val="263238"/>
                </a:solidFill>
                <a:latin typeface="微软雅黑"/>
                <a:ea typeface="微软雅黑"/>
              </a:rPr>
              <a:t>管理员李老师翻出一个 Excel 台账，说「应该没人用，你登记一下拿走吧」。张明借走三天。</a:t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endParaRPr sz="1200" b="0">
              <a:solidFill>
                <a:srgbClr val="263238"/>
              </a:solidFill>
              <a:latin typeface="微软雅黑"/>
              <a:ea typeface="微软雅黑"/>
            </a:endParaRP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200" b="0">
                <a:solidFill>
                  <a:srgbClr val="263238"/>
                </a:solidFill>
                <a:latin typeface="微软雅黑"/>
                <a:ea typeface="微软雅黑"/>
              </a:rPr>
              <a:t>第四天，同班的李华也来借，李老师又让李华拿走了——</a:t>
            </a:r>
            <a:r>
              <a:rPr sz="1200" b="1">
                <a:solidFill>
                  <a:srgbClr val="263238"/>
                </a:solidFill>
                <a:latin typeface="微软雅黑"/>
                <a:ea typeface="微软雅黑"/>
              </a:rPr>
              <a:t>实际上实验室只剩一台示波器</a:t>
            </a:r>
            <a:r>
              <a:rPr sz="1200" b="0">
                <a:solidFill>
                  <a:srgbClr val="263238"/>
                </a:solidFill>
                <a:latin typeface="微软雅黑"/>
                <a:ea typeface="微软雅黑"/>
              </a:rPr>
              <a:t>，两人在实验室门口撞上，都不肯让。</a:t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endParaRPr sz="1200" b="0">
              <a:solidFill>
                <a:srgbClr val="263238"/>
              </a:solidFill>
              <a:latin typeface="微软雅黑"/>
              <a:ea typeface="微软雅黑"/>
            </a:endParaRP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200" b="0">
                <a:solidFill>
                  <a:srgbClr val="263238"/>
                </a:solidFill>
                <a:latin typeface="微软雅黑"/>
                <a:ea typeface="微软雅黑"/>
              </a:rPr>
              <a:t>一周后那台示波器屏幕出现裂纹。因为</a:t>
            </a:r>
            <a:r>
              <a:rPr sz="1200" b="1">
                <a:solidFill>
                  <a:srgbClr val="263238"/>
                </a:solidFill>
                <a:latin typeface="微软雅黑"/>
                <a:ea typeface="微软雅黑"/>
              </a:rPr>
              <a:t>没有使用记录可查，无法确定责任</a:t>
            </a:r>
            <a:r>
              <a:rPr sz="1200" b="0">
                <a:solidFill>
                  <a:srgbClr val="263238"/>
                </a:solidFill>
                <a:latin typeface="微软雅黑"/>
                <a:ea typeface="微软雅黑"/>
              </a:rPr>
              <a:t>。李老师填了纸质报修单交到设备科，之后再无下文。</a:t>
            </a: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endParaRPr sz="1200" b="0">
              <a:solidFill>
                <a:srgbClr val="263238"/>
              </a:solidFill>
              <a:latin typeface="微软雅黑"/>
              <a:ea typeface="微软雅黑"/>
            </a:endParaRPr>
          </a:p>
          <a:p>
            <a:pPr algn="l">
              <a:lnSpc>
                <a:spcPct val="128000"/>
              </a:lnSpc>
              <a:spcAft>
                <a:spcPts val="100"/>
              </a:spcAft>
            </a:pPr>
            <a:r>
              <a:rPr sz="1200" b="0">
                <a:solidFill>
                  <a:srgbClr val="263238"/>
                </a:solidFill>
                <a:latin typeface="微软雅黑"/>
                <a:ea typeface="微软雅黑"/>
              </a:rPr>
              <a:t>一个月后设备还停在那里，而李老师已经不记得自己报修过它。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62672" y="1353312"/>
            <a:ext cx="4023360" cy="393192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18704" y="1554480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>
                <a:solidFill>
                  <a:srgbClr val="E65100"/>
                </a:solidFill>
                <a:latin typeface="微软雅黑"/>
                <a:ea typeface="微软雅黑"/>
              </a:rPr>
              <a:t>这个场景暴露了什么？</a:t>
            </a:r>
          </a:p>
        </p:txBody>
      </p:sp>
      <p:sp>
        <p:nvSpPr>
          <p:cNvPr id="12" name="Oval 11"/>
          <p:cNvSpPr/>
          <p:nvPr/>
        </p:nvSpPr>
        <p:spPr>
          <a:xfrm>
            <a:off x="7918704" y="2084831"/>
            <a:ext cx="256032" cy="256032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1031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63238"/>
                </a:solidFill>
                <a:latin typeface="微软雅黑"/>
                <a:ea typeface="微软雅黑"/>
              </a:rPr>
              <a:t>设备在不在，没人说得清</a:t>
            </a:r>
          </a:p>
        </p:txBody>
      </p:sp>
      <p:sp>
        <p:nvSpPr>
          <p:cNvPr id="14" name="Oval 13"/>
          <p:cNvSpPr/>
          <p:nvPr/>
        </p:nvSpPr>
        <p:spPr>
          <a:xfrm>
            <a:off x="7918704" y="2688336"/>
            <a:ext cx="256032" cy="256032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706624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63238"/>
                </a:solidFill>
                <a:latin typeface="微软雅黑"/>
                <a:ea typeface="微软雅黑"/>
              </a:rPr>
              <a:t>同一台设备被两个人同时借走</a:t>
            </a:r>
          </a:p>
        </p:txBody>
      </p:sp>
      <p:sp>
        <p:nvSpPr>
          <p:cNvPr id="16" name="Oval 15"/>
          <p:cNvSpPr/>
          <p:nvPr/>
        </p:nvSpPr>
        <p:spPr>
          <a:xfrm>
            <a:off x="7918704" y="3291839"/>
            <a:ext cx="256032" cy="256032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331012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63238"/>
                </a:solidFill>
                <a:latin typeface="微软雅黑"/>
                <a:ea typeface="微软雅黑"/>
              </a:rPr>
              <a:t>设备坏了，查不出是谁用的</a:t>
            </a:r>
          </a:p>
        </p:txBody>
      </p:sp>
      <p:sp>
        <p:nvSpPr>
          <p:cNvPr id="18" name="Oval 17"/>
          <p:cNvSpPr/>
          <p:nvPr/>
        </p:nvSpPr>
        <p:spPr>
          <a:xfrm>
            <a:off x="7918704" y="3895344"/>
            <a:ext cx="256032" cy="256032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3913631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63238"/>
                </a:solidFill>
                <a:latin typeface="微软雅黑"/>
                <a:ea typeface="微软雅黑"/>
              </a:rPr>
              <a:t>报修交上去，再也没有下文</a:t>
            </a:r>
          </a:p>
        </p:txBody>
      </p:sp>
      <p:sp>
        <p:nvSpPr>
          <p:cNvPr id="20" name="Oval 19"/>
          <p:cNvSpPr/>
          <p:nvPr/>
        </p:nvSpPr>
        <p:spPr>
          <a:xfrm>
            <a:off x="7918704" y="4498848"/>
            <a:ext cx="256032" cy="256032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4517136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263238"/>
                </a:solidFill>
                <a:latin typeface="微软雅黑"/>
                <a:ea typeface="微软雅黑"/>
              </a:rPr>
              <a:t>学院要利用率数据，只能靠估计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9EADB5"/>
                </a:solidFill>
                <a:latin typeface="微软雅黑"/>
                <a:ea typeface="微软雅黑"/>
              </a:rPr>
              <a:t>智汇实验室 LabHub ｜ 软件课程设计 第一周开题汇报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D47A1"/>
                </a:solidFill>
                <a:latin typeface="微软雅黑"/>
                <a:ea typeface="微软雅黑"/>
              </a:rPr>
              <a:t>要解决的问题：归纳为五个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46E7A"/>
                </a:solidFill>
                <a:latin typeface="微软雅黑"/>
                <a:ea typeface="微软雅黑"/>
              </a:rPr>
              <a:t>从访谈与现场观察中提炼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2700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481328"/>
            <a:ext cx="212140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481328"/>
            <a:ext cx="2121408" cy="868680"/>
          </a:xfrm>
          <a:prstGeom prst="roundRect">
            <a:avLst>
              <a:gd name="adj" fmla="val 16000"/>
            </a:avLst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627632"/>
            <a:ext cx="21214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487168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1976D2"/>
                </a:solidFill>
                <a:latin typeface="微软雅黑"/>
                <a:ea typeface="微软雅黑"/>
              </a:rPr>
              <a:t>设备状态不透明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05840" y="3127248"/>
            <a:ext cx="1115568" cy="0"/>
          </a:xfrm>
          <a:prstGeom prst="line">
            <a:avLst/>
          </a:prstGeom>
          <a:ln w="12700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67512" y="3273552"/>
            <a:ext cx="1792224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台账是纸质或 Excel，数据滞后。</a:t>
            </a:r>
          </a:p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学生跑到实验室才知道设备被占用。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79776" y="1481328"/>
            <a:ext cx="212140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779776" y="1481328"/>
            <a:ext cx="2121408" cy="868680"/>
          </a:xfrm>
          <a:prstGeom prst="roundRect">
            <a:avLst>
              <a:gd name="adj" fmla="val 16000"/>
            </a:avLst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79776" y="1627632"/>
            <a:ext cx="21214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P2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487168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E65100"/>
                </a:solidFill>
                <a:latin typeface="微软雅黑"/>
                <a:ea typeface="微软雅黑"/>
              </a:rPr>
              <a:t>预约容易冲突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82696" y="3127248"/>
            <a:ext cx="1115568" cy="0"/>
          </a:xfrm>
          <a:prstGeom prst="line">
            <a:avLst/>
          </a:prstGeom>
          <a:ln w="12700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944368" y="3273552"/>
            <a:ext cx="1792224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靠人工判断时段，没有占用校验。</a:t>
            </a:r>
          </a:p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同一台设备可能被两人同时借走。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56632" y="1481328"/>
            <a:ext cx="212140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056632" y="1481328"/>
            <a:ext cx="2121408" cy="868680"/>
          </a:xfrm>
          <a:prstGeom prst="roundRect">
            <a:avLst>
              <a:gd name="adj" fmla="val 16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56632" y="1627632"/>
            <a:ext cx="21214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P3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2936" y="2487168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C62828"/>
                </a:solidFill>
                <a:latin typeface="微软雅黑"/>
                <a:ea typeface="微软雅黑"/>
              </a:rPr>
              <a:t>报修没有下文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559552" y="3127248"/>
            <a:ext cx="1115568" cy="0"/>
          </a:xfrm>
          <a:prstGeom prst="line">
            <a:avLst/>
          </a:prstGeom>
          <a:ln w="12700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221224" y="3273552"/>
            <a:ext cx="1792224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纸质报修单，环节无跟踪、无提醒。</a:t>
            </a:r>
          </a:p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设备长期带病停用，影响教学。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33488" y="1481328"/>
            <a:ext cx="212140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333488" y="1481328"/>
            <a:ext cx="2121408" cy="868680"/>
          </a:xfrm>
          <a:prstGeom prst="roundRect">
            <a:avLst>
              <a:gd name="adj" fmla="val 16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33488" y="1627632"/>
            <a:ext cx="21214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P4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9792" y="2487168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6A1B9A"/>
                </a:solidFill>
                <a:latin typeface="微软雅黑"/>
                <a:ea typeface="微软雅黑"/>
              </a:rPr>
              <a:t>使用数据缺失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36408" y="3127248"/>
            <a:ext cx="1115568" cy="0"/>
          </a:xfrm>
          <a:prstGeom prst="line">
            <a:avLst/>
          </a:prstGeom>
          <a:ln w="12700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498080" y="3273552"/>
            <a:ext cx="1792224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借用记录不完整，无使用时长。</a:t>
            </a:r>
          </a:p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设备损坏无法认定责任。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10344" y="1481328"/>
            <a:ext cx="212140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610344" y="1481328"/>
            <a:ext cx="2121408" cy="868680"/>
          </a:xfrm>
          <a:prstGeom prst="roundRect">
            <a:avLst>
              <a:gd name="adj" fmla="val 1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10344" y="1627632"/>
            <a:ext cx="21214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P5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6648" y="2487168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2E7D32"/>
                </a:solidFill>
                <a:latin typeface="微软雅黑"/>
                <a:ea typeface="微软雅黑"/>
              </a:rPr>
              <a:t>决策缺少依据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113264" y="3127248"/>
            <a:ext cx="1115568" cy="0"/>
          </a:xfrm>
          <a:prstGeom prst="line">
            <a:avLst/>
          </a:prstGeom>
          <a:ln w="12700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774936" y="3273552"/>
            <a:ext cx="1792224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该买什么、该修什么全凭经验。</a:t>
            </a:r>
          </a:p>
          <a:p>
            <a:pPr algn="ctr">
              <a:lnSpc>
                <a:spcPct val="128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设备利用率说不清。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956048"/>
            <a:ext cx="11183112" cy="1097280"/>
          </a:xfrm>
          <a:prstGeom prst="roundRect">
            <a:avLst>
              <a:gd name="adj" fmla="val 10000"/>
            </a:avLst>
          </a:prstGeom>
          <a:solidFill>
            <a:srgbClr val="E8F4FD"/>
          </a:solidFill>
          <a:ln w="1270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7240" y="512064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976D2"/>
                </a:solidFill>
                <a:latin typeface="微软雅黑"/>
                <a:ea typeface="微软雅黑"/>
              </a:rPr>
              <a:t>一句话概括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413248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>
                <a:solidFill>
                  <a:srgbClr val="263238"/>
                </a:solidFill>
                <a:latin typeface="微软雅黑"/>
                <a:ea typeface="微软雅黑"/>
              </a:rPr>
              <a:t>五个问题指向同一个根源：</a:t>
            </a:r>
            <a:r>
              <a:rPr sz="1350" b="1">
                <a:solidFill>
                  <a:srgbClr val="263238"/>
                </a:solidFill>
                <a:latin typeface="微软雅黑"/>
                <a:ea typeface="微软雅黑"/>
              </a:rPr>
              <a:t>实验设备的使用过程没有被数字化</a:t>
            </a:r>
            <a:r>
              <a:rPr sz="1350" b="0">
                <a:solidFill>
                  <a:srgbClr val="263238"/>
                </a:solidFill>
                <a:latin typeface="微软雅黑"/>
                <a:ea typeface="微软雅黑"/>
              </a:rPr>
              <a:t>。没有结构化的时段数据，就无法自动排期；没有记录沉淀，就无法统计与追责。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9EADB5"/>
                </a:solidFill>
                <a:latin typeface="微软雅黑"/>
                <a:ea typeface="微软雅黑"/>
              </a:rPr>
              <a:t>智汇实验室 LabHub ｜ 软件课程设计 第一周开题汇报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D47A1"/>
                </a:solidFill>
                <a:latin typeface="微软雅黑"/>
                <a:ea typeface="微软雅黑"/>
              </a:rPr>
              <a:t>系统概述：四大能力，一个平台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46E7A"/>
                </a:solidFill>
                <a:latin typeface="微软雅黑"/>
                <a:ea typeface="微软雅黑"/>
              </a:rPr>
              <a:t>把「台账管理 + 时段预约 + 报修闭环 + 数据洞察」做在同一平台里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2700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417320"/>
            <a:ext cx="5440680" cy="2011680"/>
          </a:xfrm>
          <a:prstGeom prst="roundRect">
            <a:avLst>
              <a:gd name="adj" fmla="val 7000"/>
            </a:avLst>
          </a:prstGeom>
          <a:solidFill>
            <a:srgbClr val="E8F4FD"/>
          </a:solidFill>
          <a:ln w="1270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04088" y="1636776"/>
            <a:ext cx="475488" cy="475488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719072"/>
            <a:ext cx="4754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1709928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1976D2"/>
                </a:solidFill>
                <a:latin typeface="微软雅黑"/>
                <a:ea typeface="微软雅黑"/>
              </a:rPr>
              <a:t>设备台账数字化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13432"/>
            <a:ext cx="4937760" cy="987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200" b="0">
                <a:solidFill>
                  <a:srgbClr val="263238"/>
                </a:solidFill>
                <a:latin typeface="微软雅黑"/>
                <a:ea typeface="微软雅黑"/>
              </a:rPr>
              <a:t>给每台设备建电子档案并生成二维码，贴在设备上。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200" b="0">
                <a:solidFill>
                  <a:srgbClr val="263238"/>
                </a:solidFill>
                <a:latin typeface="微软雅黑"/>
                <a:ea typeface="微软雅黑"/>
              </a:rPr>
              <a:t>手机扫码即可看到它的实时状态和可预约时段，不用再跑到实验室门口看纸质登记表。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417320"/>
            <a:ext cx="5440680" cy="2011680"/>
          </a:xfrm>
          <a:prstGeom prst="roundRect">
            <a:avLst>
              <a:gd name="adj" fmla="val 7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46520" y="1636776"/>
            <a:ext cx="475488" cy="47548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719072"/>
            <a:ext cx="4754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709928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2E7D32"/>
                </a:solidFill>
                <a:latin typeface="微软雅黑"/>
                <a:ea typeface="微软雅黑"/>
              </a:rPr>
              <a:t>预约时段化 · 系统核心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313432"/>
            <a:ext cx="4937760" cy="987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200" b="0">
                <a:solidFill>
                  <a:srgbClr val="263238"/>
                </a:solidFill>
                <a:latin typeface="微软雅黑"/>
                <a:ea typeface="微软雅黑"/>
              </a:rPr>
              <a:t>把「谁在什么时间段用哪台设备」变成结构化记录。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200" b="0">
                <a:solidFill>
                  <a:srgbClr val="263238"/>
                </a:solidFill>
                <a:latin typeface="微软雅黑"/>
                <a:ea typeface="微软雅黑"/>
              </a:rPr>
              <a:t>提交预约时自动检测时段冲突，冲突了还会推荐替代时段——把管理前移到事前调度。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30168"/>
            <a:ext cx="5440680" cy="2011680"/>
          </a:xfrm>
          <a:prstGeom prst="roundRect">
            <a:avLst>
              <a:gd name="adj" fmla="val 7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04088" y="3849624"/>
            <a:ext cx="475488" cy="475488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3931920"/>
            <a:ext cx="4754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3922776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E65100"/>
                </a:solidFill>
                <a:latin typeface="微软雅黑"/>
                <a:ea typeface="微软雅黑"/>
              </a:rPr>
              <a:t>报修流程闭环化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26280"/>
            <a:ext cx="4937760" cy="987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200" b="0">
                <a:solidFill>
                  <a:srgbClr val="263238"/>
                </a:solidFill>
                <a:latin typeface="微软雅黑"/>
                <a:ea typeface="微软雅黑"/>
              </a:rPr>
              <a:t>工单按「待派单 → 已派单 → 维修中 → 待验收 → 已完成」流转，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200" b="0">
                <a:solidFill>
                  <a:srgbClr val="263238"/>
                </a:solidFill>
                <a:latin typeface="微软雅黑"/>
                <a:ea typeface="微软雅黑"/>
              </a:rPr>
              <a:t>每一步都有责任人和时间戳，超时自动升级提醒，杜绝报修石沉大海。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3630168"/>
            <a:ext cx="5440680" cy="2011680"/>
          </a:xfrm>
          <a:prstGeom prst="roundRect">
            <a:avLst>
              <a:gd name="adj" fmla="val 7000"/>
            </a:avLst>
          </a:prstGeom>
          <a:solidFill>
            <a:srgbClr val="F3E5F5"/>
          </a:solidFill>
          <a:ln w="127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46520" y="3849624"/>
            <a:ext cx="475488" cy="475488"/>
          </a:xfrm>
          <a:prstGeom prst="ellipse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3931920"/>
            <a:ext cx="4754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0024" y="3922776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6A1B9A"/>
                </a:solidFill>
                <a:latin typeface="微软雅黑"/>
                <a:ea typeface="微软雅黑"/>
              </a:rPr>
              <a:t>使用数据价值化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4526280"/>
            <a:ext cx="4937760" cy="987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200" b="0">
                <a:solidFill>
                  <a:srgbClr val="263238"/>
                </a:solidFill>
                <a:latin typeface="微软雅黑"/>
                <a:ea typeface="微软雅黑"/>
              </a:rPr>
              <a:t>签到签退记录沉淀为统计报表，再用 Python 做需求热度预测和故障风险评分，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200" b="0">
                <a:solidFill>
                  <a:srgbClr val="263238"/>
                </a:solidFill>
                <a:latin typeface="微软雅黑"/>
                <a:ea typeface="微软雅黑"/>
              </a:rPr>
              <a:t>让「该不该买、该不该修」有数据可依。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870448"/>
            <a:ext cx="11183112" cy="475488"/>
          </a:xfrm>
          <a:prstGeom prst="roundRect">
            <a:avLst>
              <a:gd name="adj" fmla="val 28000"/>
            </a:avLst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5971032"/>
            <a:ext cx="111831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核心思想：把管理动作从「事后登记」前移到「事前调度」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D47A1"/>
                </a:solidFill>
                <a:latin typeface="微软雅黑"/>
                <a:ea typeface="微软雅黑"/>
              </a:rPr>
              <a:t>系统功能架构：三大子系统，8 个核心模块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2700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1353312"/>
            <a:ext cx="2057400" cy="822960"/>
          </a:xfrm>
          <a:prstGeom prst="roundRect">
            <a:avLst>
              <a:gd name="adj" fmla="val 7000"/>
            </a:avLst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192938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基础支撑子系统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508760"/>
            <a:ext cx="4453128" cy="420624"/>
          </a:xfrm>
          <a:prstGeom prst="roundRect">
            <a:avLst>
              <a:gd name="adj" fmla="val 20000"/>
            </a:avLst>
          </a:prstGeom>
          <a:solidFill>
            <a:srgbClr val="E8F4FD"/>
          </a:solidFill>
          <a:ln w="9525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43784" y="158191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976D2"/>
                </a:solidFill>
                <a:latin typeface="微软雅黑"/>
                <a:ea typeface="微软雅黑"/>
              </a:rPr>
              <a:t>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581912"/>
            <a:ext cx="3584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63238"/>
                </a:solidFill>
                <a:latin typeface="微软雅黑"/>
                <a:ea typeface="微软雅黑"/>
              </a:rPr>
              <a:t>用户与权限管理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78624" y="1508760"/>
            <a:ext cx="4453128" cy="420624"/>
          </a:xfrm>
          <a:prstGeom prst="roundRect">
            <a:avLst>
              <a:gd name="adj" fmla="val 20000"/>
            </a:avLst>
          </a:prstGeom>
          <a:solidFill>
            <a:srgbClr val="E8F4FD"/>
          </a:solidFill>
          <a:ln w="9525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24928" y="1581912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976D2"/>
                </a:solidFill>
                <a:latin typeface="微软雅黑"/>
                <a:ea typeface="微软雅黑"/>
              </a:rPr>
              <a:t>F2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0144" y="1581912"/>
            <a:ext cx="3584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63238"/>
                </a:solidFill>
                <a:latin typeface="微软雅黑"/>
                <a:ea typeface="微软雅黑"/>
              </a:rPr>
              <a:t>设备台账管理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322576"/>
            <a:ext cx="2057400" cy="822960"/>
          </a:xfrm>
          <a:prstGeom prst="roundRect">
            <a:avLst>
              <a:gd name="adj" fmla="val 7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2414016"/>
            <a:ext cx="192938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预约调度子系统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2478024"/>
            <a:ext cx="4453128" cy="420624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43784" y="2551176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F3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551176"/>
            <a:ext cx="3584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63238"/>
                </a:solidFill>
                <a:latin typeface="微软雅黑"/>
                <a:ea typeface="微软雅黑"/>
              </a:rPr>
              <a:t>设备预约与冲突检测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78624" y="2478024"/>
            <a:ext cx="4453128" cy="420624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24928" y="2551176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F4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0144" y="2551176"/>
            <a:ext cx="3584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63238"/>
                </a:solidFill>
                <a:latin typeface="微软雅黑"/>
                <a:ea typeface="微软雅黑"/>
              </a:rPr>
              <a:t>实验室排期管理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291840"/>
            <a:ext cx="2057400" cy="1335024"/>
          </a:xfrm>
          <a:prstGeom prst="roundRect">
            <a:avLst>
              <a:gd name="adj" fmla="val 7000"/>
            </a:avLst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3383280"/>
            <a:ext cx="1929384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运维与洞察子系统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97480" y="3447288"/>
            <a:ext cx="4453128" cy="420624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 w="952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43784" y="3520440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E65100"/>
                </a:solidFill>
                <a:latin typeface="微软雅黑"/>
                <a:ea typeface="微软雅黑"/>
              </a:rPr>
              <a:t>F5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3520440"/>
            <a:ext cx="3584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63238"/>
                </a:solidFill>
                <a:latin typeface="微软雅黑"/>
                <a:ea typeface="微软雅黑"/>
              </a:rPr>
              <a:t>使用记录与统计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78624" y="3447288"/>
            <a:ext cx="4453128" cy="420624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 w="952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24928" y="3520440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E65100"/>
                </a:solidFill>
                <a:latin typeface="微软雅黑"/>
                <a:ea typeface="微软雅黑"/>
              </a:rPr>
              <a:t>F6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0144" y="3520440"/>
            <a:ext cx="3584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63238"/>
                </a:solidFill>
                <a:latin typeface="微软雅黑"/>
                <a:ea typeface="微软雅黑"/>
              </a:rPr>
              <a:t>设备报修与维保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97480" y="3959352"/>
            <a:ext cx="4453128" cy="420624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 w="952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843784" y="4032504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E65100"/>
                </a:solidFill>
                <a:latin typeface="微软雅黑"/>
                <a:ea typeface="微软雅黑"/>
              </a:rPr>
              <a:t>F7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4032504"/>
            <a:ext cx="3584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63238"/>
                </a:solidFill>
                <a:latin typeface="微软雅黑"/>
                <a:ea typeface="微软雅黑"/>
              </a:rPr>
              <a:t>消息通知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78624" y="3959352"/>
            <a:ext cx="4453128" cy="420624"/>
          </a:xfrm>
          <a:prstGeom prst="roundRect">
            <a:avLst>
              <a:gd name="adj" fmla="val 20000"/>
            </a:avLst>
          </a:prstGeom>
          <a:solidFill>
            <a:srgbClr val="FFF3E0"/>
          </a:solidFill>
          <a:ln w="952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24928" y="4032504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E65100"/>
                </a:solidFill>
                <a:latin typeface="微软雅黑"/>
                <a:ea typeface="微软雅黑"/>
              </a:rPr>
              <a:t>F8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0144" y="4032504"/>
            <a:ext cx="35844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63238"/>
                </a:solidFill>
                <a:latin typeface="微软雅黑"/>
                <a:ea typeface="微软雅黑"/>
              </a:rPr>
              <a:t>使用预测与故障预警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138928"/>
            <a:ext cx="11183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546E7A"/>
                </a:solidFill>
                <a:latin typeface="微软雅黑"/>
                <a:ea typeface="微软雅黑"/>
              </a:rPr>
              <a:t>标注：</a:t>
            </a:r>
            <a:r>
              <a:rPr sz="1150" b="1">
                <a:solidFill>
                  <a:srgbClr val="546E7A"/>
                </a:solidFill>
                <a:latin typeface="微软雅黑"/>
                <a:ea typeface="微软雅黑"/>
              </a:rPr>
              <a:t>F3 设备预约与冲突检测是本系统的核心模块</a:t>
            </a:r>
            <a:r>
              <a:rPr sz="1150" b="0">
                <a:solidFill>
                  <a:srgbClr val="546E7A"/>
                </a:solidFill>
                <a:latin typeface="微软雅黑"/>
                <a:ea typeface="微软雅黑"/>
              </a:rPr>
              <a:t>——它决定了系统能否真正消灭设备争抢；F8 是差异化创新点。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504688"/>
            <a:ext cx="11183112" cy="566928"/>
          </a:xfrm>
          <a:prstGeom prst="roundRect">
            <a:avLst>
              <a:gd name="adj" fmla="val 22000"/>
            </a:avLst>
          </a:prstGeom>
          <a:solidFill>
            <a:srgbClr val="E8F4FD"/>
          </a:solidFill>
          <a:ln w="1270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5614416"/>
            <a:ext cx="11183112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263238"/>
                </a:solidFill>
                <a:latin typeface="微软雅黑"/>
                <a:ea typeface="微软雅黑"/>
              </a:rPr>
              <a:t>模块之间的关系：F1、F2 是数据基础 → F3、F4 是业务核心 → F5、F6、F7 是使用闭环 → F8 在 F5、F6 的数据上做分析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9EADB5"/>
                </a:solidFill>
                <a:latin typeface="微软雅黑"/>
                <a:ea typeface="微软雅黑"/>
              </a:rPr>
              <a:t>智汇实验室 LabHub ｜ 软件课程设计 第一周开题汇报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D47A1"/>
                </a:solidFill>
                <a:latin typeface="微软雅黑"/>
                <a:ea typeface="微软雅黑"/>
              </a:rPr>
              <a:t>核心功能点：8 个模块，42 个功能点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46E7A"/>
                </a:solidFill>
                <a:latin typeface="微软雅黑"/>
                <a:ea typeface="微软雅黑"/>
              </a:rPr>
              <a:t>满足课程「核心功能点不少于 6 个」的要求，工作量饱满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2700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53312"/>
          <a:ext cx="11183110" cy="4032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6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3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6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66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模块</a:t>
                      </a:r>
                    </a:p>
                  </a:txBody>
                  <a:tcPr marL="64008" marR="64008" marT="13716" marB="13716"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模块名称</a:t>
                      </a:r>
                    </a:p>
                  </a:txBody>
                  <a:tcPr marL="64008" marR="64008" marT="13716" marB="13716"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功能点数</a:t>
                      </a:r>
                    </a:p>
                  </a:txBody>
                  <a:tcPr marL="64008" marR="64008" marT="13716" marB="13716"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优先级</a:t>
                      </a:r>
                    </a:p>
                  </a:txBody>
                  <a:tcPr marL="64008" marR="64008" marT="13716" marB="13716"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代表性功能点</a:t>
                      </a:r>
                    </a:p>
                  </a:txBody>
                  <a:tcPr marL="64008" marR="64008" marT="13716" marB="13716" anchor="ctr">
                    <a:solidFill>
                      <a:srgbClr val="0D4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F1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用户与权限管理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高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四级角色 RBAC、登录鉴权、操作日志审计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F2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设备台账管理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高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设备录入、二维码生成、</a:t>
                      </a:r>
                      <a:r>
                        <a:rPr sz="1100" b="1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扫码查询实时状态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F3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设备预约与冲突检测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高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时段冲突检测、可用时段推荐、预约审核、爽约管理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F4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实验室排期管理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高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开放时段配置、课程批量占用导入、排期日历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F5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使用记录与统计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签到签退、使用时长统计、多维度报表导出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F6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设备报修与维保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工单闭环流转、维修记录归档、维保到期提醒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F7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消息通知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站内信、邮件通知、到期提醒、通知去重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F8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使用预测与故障预警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需求热度预测、故障风险评分、冷启动降级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687568"/>
            <a:ext cx="111831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546E7A"/>
                </a:solidFill>
                <a:latin typeface="微软雅黑"/>
                <a:ea typeface="微软雅黑"/>
              </a:rPr>
              <a:t>功能点拆分粒度说明：每个功能点都有明确的输入、输出与验收标准，便于 4 人分工到人并分别承担开发与测试工作。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9EADB5"/>
                </a:solidFill>
                <a:latin typeface="微软雅黑"/>
                <a:ea typeface="微软雅黑"/>
              </a:rPr>
              <a:t>智汇实验室 LabHub ｜ 软件课程设计 第一周开题汇报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D47A1"/>
                </a:solidFill>
                <a:latin typeface="微软雅黑"/>
                <a:ea typeface="微软雅黑"/>
              </a:rPr>
              <a:t>系统的组成和部署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46E7A"/>
                </a:solidFill>
                <a:latin typeface="微软雅黑"/>
                <a:ea typeface="微软雅黑"/>
              </a:rPr>
              <a:t>前后端分离 + 业务与智能双服务解耦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2700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298448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0D47A1"/>
                </a:solidFill>
                <a:latin typeface="微软雅黑"/>
                <a:ea typeface="微软雅黑"/>
              </a:rPr>
              <a:t>一、系统由哪些要素组成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45920"/>
            <a:ext cx="53949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64008" cy="50292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70078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976D2"/>
                </a:solidFill>
                <a:latin typeface="微软雅黑"/>
                <a:ea typeface="微软雅黑"/>
              </a:rPr>
              <a:t>前端应用 lab-web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78308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46E7A"/>
                </a:solidFill>
                <a:latin typeface="微软雅黑"/>
                <a:ea typeface="微软雅黑"/>
              </a:rPr>
              <a:t>用户界面，浏览器访问（PC + 手机）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21992"/>
            <a:ext cx="53949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221992"/>
            <a:ext cx="64008" cy="50292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276856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976D2"/>
                </a:solidFill>
                <a:latin typeface="微软雅黑"/>
                <a:ea typeface="微软雅黑"/>
              </a:rPr>
              <a:t>后端服务 lab-api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35915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46E7A"/>
                </a:solidFill>
                <a:latin typeface="微软雅黑"/>
                <a:ea typeface="微软雅黑"/>
              </a:rPr>
              <a:t>业务逻辑、鉴权、冲突检测、工单流转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798064"/>
            <a:ext cx="53949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2798064"/>
            <a:ext cx="64008" cy="50292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285292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6A1B9A"/>
                </a:solidFill>
                <a:latin typeface="微软雅黑"/>
                <a:ea typeface="微软雅黑"/>
              </a:rPr>
              <a:t>智能服务 lab-ai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935224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46E7A"/>
                </a:solidFill>
                <a:latin typeface="微软雅黑"/>
                <a:ea typeface="微软雅黑"/>
              </a:rPr>
              <a:t>Python 独立部署，做预测与风险评分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374136"/>
            <a:ext cx="53949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3374136"/>
            <a:ext cx="64008" cy="502920"/>
          </a:xfrm>
          <a:prstGeom prst="rect">
            <a:avLst/>
          </a:prstGeom>
          <a:solidFill>
            <a:srgbClr val="54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42900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546E7A"/>
                </a:solidFill>
                <a:latin typeface="微软雅黑"/>
                <a:ea typeface="微软雅黑"/>
              </a:rPr>
              <a:t>MySQL 数据库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511296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46E7A"/>
                </a:solidFill>
                <a:latin typeface="微软雅黑"/>
                <a:ea typeface="微软雅黑"/>
              </a:rPr>
              <a:t>业务数据持久化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950208"/>
            <a:ext cx="53949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3950208"/>
            <a:ext cx="64008" cy="502920"/>
          </a:xfrm>
          <a:prstGeom prst="rect">
            <a:avLst/>
          </a:prstGeom>
          <a:solidFill>
            <a:srgbClr val="54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400507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546E7A"/>
                </a:solidFill>
                <a:latin typeface="微软雅黑"/>
                <a:ea typeface="微软雅黑"/>
              </a:rPr>
              <a:t>Redis 缓存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408736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46E7A"/>
                </a:solidFill>
                <a:latin typeface="微软雅黑"/>
                <a:ea typeface="微软雅黑"/>
              </a:rPr>
              <a:t>会话缓存 + 预约时段分布式锁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526280"/>
            <a:ext cx="53949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2920" y="4526280"/>
            <a:ext cx="64008" cy="50292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458114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E65100"/>
                </a:solidFill>
                <a:latin typeface="微软雅黑"/>
                <a:ea typeface="微软雅黑"/>
              </a:rPr>
              <a:t>二维码标签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466344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46E7A"/>
                </a:solidFill>
                <a:latin typeface="微软雅黑"/>
                <a:ea typeface="微软雅黑"/>
              </a:rPr>
              <a:t>贴在设备上的物理入口，扫码即达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102352"/>
            <a:ext cx="539496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02920" y="5102352"/>
            <a:ext cx="64008" cy="50292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5157216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E65100"/>
                </a:solidFill>
                <a:latin typeface="微软雅黑"/>
                <a:ea typeface="微软雅黑"/>
              </a:rPr>
              <a:t>邮件服务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523951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46E7A"/>
                </a:solidFill>
                <a:latin typeface="微软雅黑"/>
                <a:ea typeface="微软雅黑"/>
              </a:rPr>
              <a:t>外部服务，发送审核结果与到期提醒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1298448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0D47A1"/>
                </a:solidFill>
                <a:latin typeface="微软雅黑"/>
                <a:ea typeface="微软雅黑"/>
              </a:rPr>
              <a:t>二、如何部署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1645920"/>
            <a:ext cx="5422392" cy="393192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492240" y="1792224"/>
            <a:ext cx="496519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20256" y="1837944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976D2"/>
                </a:solidFill>
                <a:latin typeface="微软雅黑"/>
                <a:ea typeface="微软雅黑"/>
              </a:rPr>
              <a:t>浏览器 / 手机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0256" y="2039112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46E7A"/>
                </a:solidFill>
                <a:latin typeface="微软雅黑"/>
                <a:ea typeface="微软雅黑"/>
              </a:rPr>
              <a:t>用户终端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961120" y="2249424"/>
            <a:ext cx="0" cy="73152"/>
          </a:xfrm>
          <a:prstGeom prst="line">
            <a:avLst/>
          </a:prstGeom>
          <a:ln w="12700">
            <a:solidFill>
              <a:srgbClr val="546E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492240" y="2322576"/>
            <a:ext cx="4965192" cy="457200"/>
          </a:xfrm>
          <a:prstGeom prst="roundRect">
            <a:avLst>
              <a:gd name="adj" fmla="val 16000"/>
            </a:avLst>
          </a:prstGeom>
          <a:solidFill>
            <a:srgbClr val="E8F4FD"/>
          </a:solidFill>
          <a:ln w="9525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20256" y="2368296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976D2"/>
                </a:solidFill>
                <a:latin typeface="微软雅黑"/>
                <a:ea typeface="微软雅黑"/>
              </a:rPr>
              <a:t>Nginx  :80/:443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0256" y="2569464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46E7A"/>
                </a:solidFill>
                <a:latin typeface="微软雅黑"/>
                <a:ea typeface="微软雅黑"/>
              </a:rPr>
              <a:t>反向代理：静态资源 + API 转发 + HTTPS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961120" y="2779776"/>
            <a:ext cx="0" cy="73152"/>
          </a:xfrm>
          <a:prstGeom prst="line">
            <a:avLst/>
          </a:prstGeom>
          <a:ln w="12700">
            <a:solidFill>
              <a:srgbClr val="546E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6492240" y="2852928"/>
            <a:ext cx="4965192" cy="457200"/>
          </a:xfrm>
          <a:prstGeom prst="roundRect">
            <a:avLst>
              <a:gd name="adj" fmla="val 16000"/>
            </a:avLst>
          </a:prstGeom>
          <a:solidFill>
            <a:srgbClr val="E8F4FD"/>
          </a:solidFill>
          <a:ln w="9525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20256" y="2898648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976D2"/>
                </a:solidFill>
                <a:latin typeface="微软雅黑"/>
                <a:ea typeface="微软雅黑"/>
              </a:rPr>
              <a:t>lab-web 容器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0256" y="3099816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46E7A"/>
                </a:solidFill>
                <a:latin typeface="微软雅黑"/>
                <a:ea typeface="微软雅黑"/>
              </a:rPr>
              <a:t>前端静态资源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961120" y="3310128"/>
            <a:ext cx="0" cy="73152"/>
          </a:xfrm>
          <a:prstGeom prst="line">
            <a:avLst/>
          </a:prstGeom>
          <a:ln w="12700">
            <a:solidFill>
              <a:srgbClr val="546E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6492240" y="3383279"/>
            <a:ext cx="4965192" cy="457200"/>
          </a:xfrm>
          <a:prstGeom prst="roundRect">
            <a:avLst>
              <a:gd name="adj" fmla="val 16000"/>
            </a:avLst>
          </a:prstGeom>
          <a:solidFill>
            <a:srgbClr val="E8F5E9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20256" y="3428999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2E7D32"/>
                </a:solidFill>
                <a:latin typeface="微软雅黑"/>
                <a:ea typeface="微软雅黑"/>
              </a:rPr>
              <a:t>lab-api 容器  :8080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0256" y="3630167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46E7A"/>
                </a:solidFill>
                <a:latin typeface="微软雅黑"/>
                <a:ea typeface="微软雅黑"/>
              </a:rPr>
              <a:t>Spring Boot 业务服务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961120" y="3840479"/>
            <a:ext cx="0" cy="73152"/>
          </a:xfrm>
          <a:prstGeom prst="line">
            <a:avLst/>
          </a:prstGeom>
          <a:ln w="12700">
            <a:solidFill>
              <a:srgbClr val="546E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6492240" y="3913631"/>
            <a:ext cx="4965192" cy="457200"/>
          </a:xfrm>
          <a:prstGeom prst="roundRect">
            <a:avLst>
              <a:gd name="adj" fmla="val 16000"/>
            </a:avLst>
          </a:prstGeom>
          <a:solidFill>
            <a:srgbClr val="FFF3E0"/>
          </a:solidFill>
          <a:ln w="952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620256" y="3959351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65100"/>
                </a:solidFill>
                <a:latin typeface="微软雅黑"/>
                <a:ea typeface="微软雅黑"/>
              </a:rPr>
              <a:t>MySQL :3306　Redis :6379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0256" y="4160519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46E7A"/>
                </a:solidFill>
                <a:latin typeface="微软雅黑"/>
                <a:ea typeface="微软雅黑"/>
              </a:rPr>
              <a:t>容器化，数据卷持久化，数据库不对外开放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961120" y="4370831"/>
            <a:ext cx="0" cy="73152"/>
          </a:xfrm>
          <a:prstGeom prst="line">
            <a:avLst/>
          </a:prstGeom>
          <a:ln w="12700">
            <a:solidFill>
              <a:srgbClr val="546E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6492240" y="4443983"/>
            <a:ext cx="4965192" cy="457200"/>
          </a:xfrm>
          <a:prstGeom prst="roundRect">
            <a:avLst>
              <a:gd name="adj" fmla="val 16000"/>
            </a:avLst>
          </a:prstGeom>
          <a:solidFill>
            <a:srgbClr val="F3E5F5"/>
          </a:solidFill>
          <a:ln w="95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620256" y="4489703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6A1B9A"/>
                </a:solidFill>
                <a:latin typeface="微软雅黑"/>
                <a:ea typeface="微软雅黑"/>
              </a:rPr>
              <a:t>lab-ai 容器  :8000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20256" y="4690871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46E7A"/>
                </a:solidFill>
                <a:latin typeface="微软雅黑"/>
                <a:ea typeface="微软雅黑"/>
              </a:rPr>
              <a:t>FastAPI + 预测模型（只读访问业务库）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961120" y="4901183"/>
            <a:ext cx="0" cy="73152"/>
          </a:xfrm>
          <a:prstGeom prst="line">
            <a:avLst/>
          </a:prstGeom>
          <a:ln w="12700">
            <a:solidFill>
              <a:srgbClr val="546E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6492240" y="4974336"/>
            <a:ext cx="4965192" cy="384048"/>
          </a:xfrm>
          <a:prstGeom prst="roundRect">
            <a:avLst>
              <a:gd name="adj" fmla="val 16000"/>
            </a:avLst>
          </a:prstGeom>
          <a:solidFill>
            <a:srgbClr val="0D47A1"/>
          </a:solidFill>
          <a:ln w="9525">
            <a:solidFill>
              <a:srgbClr val="0D47A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620256" y="5065776"/>
            <a:ext cx="47548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0D47A1"/>
                </a:solidFill>
                <a:latin typeface="微软雅黑"/>
                <a:ea typeface="微软雅黑"/>
              </a:rPr>
              <a:t>一台 4核8G 服务器 · Docker Compose 一键编排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2920" y="5779008"/>
            <a:ext cx="11183112" cy="475488"/>
          </a:xfrm>
          <a:prstGeom prst="roundRect">
            <a:avLst>
              <a:gd name="adj" fmla="val 28000"/>
            </a:avLst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02920" y="5879592"/>
            <a:ext cx="111831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263238"/>
                </a:solidFill>
                <a:latin typeface="微软雅黑"/>
                <a:ea typeface="微软雅黑"/>
              </a:rPr>
              <a:t>部署成本低：不需要专用硬件，一台普通服务器即可；演示环境也可只在本机运行（MySQL + Redis 用 Docker 启动）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9EADB5"/>
                </a:solidFill>
                <a:latin typeface="微软雅黑"/>
                <a:ea typeface="微软雅黑"/>
              </a:rPr>
              <a:t>智汇实验室 LabHub ｜ 软件课程设计 第一周开题汇报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D47A1"/>
                </a:solidFill>
                <a:latin typeface="微软雅黑"/>
                <a:ea typeface="微软雅黑"/>
              </a:rPr>
              <a:t>竞品调研：现有四类方案，各缺一半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46E7A"/>
                </a:solidFill>
                <a:latin typeface="微软雅黑"/>
                <a:ea typeface="微软雅黑"/>
              </a:rPr>
              <a:t>按「与本校实际场景的贴合度」选取每类代表性产品分析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2700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371600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76656" y="1609344"/>
            <a:ext cx="347472" cy="347472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481328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976D2"/>
                </a:solidFill>
                <a:latin typeface="微软雅黑"/>
                <a:ea typeface="微软雅黑"/>
              </a:rPr>
              <a:t>高校实验室与设备管理系统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70432" y="1773936"/>
            <a:ext cx="2670048" cy="0"/>
          </a:xfrm>
          <a:prstGeom prst="line">
            <a:avLst/>
          </a:prstGeom>
          <a:ln w="9525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70432" y="1828800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46E7A"/>
                </a:solidFill>
                <a:latin typeface="微软雅黑"/>
                <a:ea typeface="微软雅黑"/>
              </a:rPr>
              <a:t>特点：重资产台账与数据上报，合规性强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499616"/>
            <a:ext cx="7452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C62828"/>
                </a:solidFill>
                <a:latin typeface="微软雅黑"/>
                <a:ea typeface="微软雅黑"/>
              </a:rPr>
              <a:t>不足：预约体验差，无冲突智能排期，无使用分析，移动端弱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04288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76656" y="2542032"/>
            <a:ext cx="347472" cy="347472"/>
          </a:xfrm>
          <a:prstGeom prst="ellipse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414016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6A1B9A"/>
                </a:solidFill>
                <a:latin typeface="微软雅黑"/>
                <a:ea typeface="微软雅黑"/>
              </a:rPr>
              <a:t>企业级固定资产管理系统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70432" y="2706624"/>
            <a:ext cx="2670048" cy="0"/>
          </a:xfrm>
          <a:prstGeom prst="line">
            <a:avLst/>
          </a:prstGeom>
          <a:ln w="9525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70432" y="2761488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46E7A"/>
                </a:solidFill>
                <a:latin typeface="微软雅黑"/>
                <a:ea typeface="微软雅黑"/>
              </a:rPr>
              <a:t>特点：流程完备，权限体系成熟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2432304"/>
            <a:ext cx="7452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C62828"/>
                </a:solidFill>
                <a:latin typeface="微软雅黑"/>
                <a:ea typeface="微软雅黑"/>
              </a:rPr>
              <a:t>不足：面向采购与折旧，不理解课程、班级、教学周次，成本高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236976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76656" y="3474720"/>
            <a:ext cx="347472" cy="347472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3346704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E65100"/>
                </a:solidFill>
                <a:latin typeface="微软雅黑"/>
                <a:ea typeface="微软雅黑"/>
              </a:rPr>
              <a:t>通用预约类小程序 / SaaS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70432" y="3639312"/>
            <a:ext cx="2670048" cy="0"/>
          </a:xfrm>
          <a:prstGeom prst="line">
            <a:avLst/>
          </a:prstGeom>
          <a:ln w="9525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170432" y="3694176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46E7A"/>
                </a:solidFill>
                <a:latin typeface="微软雅黑"/>
                <a:ea typeface="微软雅黑"/>
              </a:rPr>
              <a:t>特点：预约体验流畅，移动端友好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3364992"/>
            <a:ext cx="7452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C62828"/>
                </a:solidFill>
                <a:latin typeface="微软雅黑"/>
                <a:ea typeface="微软雅黑"/>
              </a:rPr>
              <a:t>不足：只管预约不管设备：无台账、无报修、无使用统计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169664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76656" y="4407408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4279392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E7D32"/>
                </a:solidFill>
                <a:latin typeface="微软雅黑"/>
                <a:ea typeface="微软雅黑"/>
              </a:rPr>
              <a:t>教务排课系统的实验室模块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70432" y="4572000"/>
            <a:ext cx="2670048" cy="0"/>
          </a:xfrm>
          <a:prstGeom prst="line">
            <a:avLst/>
          </a:prstGeom>
          <a:ln w="9525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70432" y="4626864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46E7A"/>
                </a:solidFill>
                <a:latin typeface="微软雅黑"/>
                <a:ea typeface="微软雅黑"/>
              </a:rPr>
              <a:t>特点：与课程强绑定，整学期批量排课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4297680"/>
            <a:ext cx="7452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C62828"/>
                </a:solidFill>
                <a:latin typeface="微软雅黑"/>
                <a:ea typeface="微软雅黑"/>
              </a:rPr>
              <a:t>不足：只服务「课」不服务「人」，排的是空间不是设备，粒度粗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257800"/>
            <a:ext cx="11183112" cy="96012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53949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E7D32"/>
                </a:solidFill>
                <a:latin typeface="微软雅黑"/>
                <a:ea typeface="微软雅黑"/>
              </a:rPr>
              <a:t>结论：没有一类产品把「设备台账 + 时段预约 + 报修闭环 + 数据洞察」四件事做在同一个平台里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705856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263238"/>
                </a:solidFill>
                <a:latin typeface="微软雅黑"/>
                <a:ea typeface="微软雅黑"/>
              </a:rPr>
              <a:t>四类竞品各自缺了一半——高校系统缺预约体验与数据洞察，企业系统缺分时复用模型，预约小程序缺台账与报修，排课模块缺设备级管理。本系统正是补上这个交叉点。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9EADB5"/>
                </a:solidFill>
                <a:latin typeface="微软雅黑"/>
                <a:ea typeface="微软雅黑"/>
              </a:rPr>
              <a:t>智汇实验室 LabHub ｜ 软件课程设计 第一周开题汇报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D47A1"/>
                </a:solidFill>
                <a:latin typeface="微软雅黑"/>
                <a:ea typeface="微软雅黑"/>
              </a:rPr>
              <a:t>竞品功能对比矩阵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46E7A"/>
                </a:solidFill>
                <a:latin typeface="微软雅黑"/>
                <a:ea typeface="微软雅黑"/>
              </a:rPr>
              <a:t>✅ 支持且较强　△ 部分支持　✗ 不支持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2700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98448"/>
          <a:ext cx="11183111" cy="456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6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3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3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32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19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750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功能维度</a:t>
                      </a:r>
                    </a:p>
                  </a:txBody>
                  <a:tcPr marL="64008" marR="64008" marT="13716" marB="13716"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高校实验室
管理系统</a:t>
                      </a:r>
                    </a:p>
                  </a:txBody>
                  <a:tcPr marL="64008" marR="64008" marT="13716" marB="13716"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企业资产
管理系统</a:t>
                      </a:r>
                    </a:p>
                  </a:txBody>
                  <a:tcPr marL="64008" marR="64008" marT="13716" marB="13716"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通用预约
小程序</a:t>
                      </a:r>
                    </a:p>
                  </a:txBody>
                  <a:tcPr marL="64008" marR="64008" marT="13716" marB="13716"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教务排课
实验室模块</a:t>
                      </a:r>
                    </a:p>
                  </a:txBody>
                  <a:tcPr marL="64008" marR="64008" marT="13716" marB="13716"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智汇实验室
LabHub</a:t>
                      </a:r>
                    </a:p>
                  </a:txBody>
                  <a:tcPr marL="64008" marR="64008" marT="13716" marB="13716" anchor="ctr">
                    <a:solidFill>
                      <a:srgbClr val="0D4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设备台账管理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✅ 强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✅ 强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设备状态实时可见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△ 弱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△ 弱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二维码扫码查询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△ 部分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时段级预约（30分钟粒度）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△ 部分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冲突自动检测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 人工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△ 先到先得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✅ 核心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可用时段智能推荐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预约审核与分级权限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签到签退与工时记录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△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报修工单闭环管理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△ 简单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✅ 通用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课程批量占用导入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✅ 强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设备利用率分析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需求热度预测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✅ 差异化</a:t>
                      </a:r>
                    </a:p>
                  </a:txBody>
                  <a:tcPr marL="64008" marR="64008" marT="13716" marB="13716" anchor="ctr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故障风险预警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✗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63238"/>
                          </a:solidFill>
                          <a:latin typeface="微软雅黑"/>
                          <a:ea typeface="微软雅黑"/>
                        </a:rPr>
                        <a:t>✅ 差异化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053328"/>
            <a:ext cx="11183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546E7A"/>
                </a:solidFill>
                <a:latin typeface="微软雅黑"/>
                <a:ea typeface="微软雅黑"/>
              </a:rPr>
              <a:t>最后两项（需求热度预测、故障风险预警）是四类竞品完全空白的能力，也是本项目的差异化所在。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D47A1"/>
                </a:solidFill>
                <a:latin typeface="微软雅黑"/>
                <a:ea typeface="微软雅黑"/>
              </a:rPr>
              <a:t>需求建模：参与者与用例总览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46E7A"/>
                </a:solidFill>
                <a:latin typeface="微软雅黑"/>
                <a:ea typeface="微软雅黑"/>
              </a:rPr>
              <a:t>共识别 4 个主要参与者、3 个次要参与者、15 个用例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2700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28016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D47A1"/>
                </a:solidFill>
                <a:latin typeface="微软雅黑"/>
                <a:ea typeface="微软雅黑"/>
              </a:rPr>
              <a:t>一、参与者（Actor）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1609344"/>
            <a:ext cx="168981" cy="16898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22225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8912" y="1963399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43584" y="1609344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E65100"/>
                </a:solidFill>
                <a:latin typeface="微软雅黑"/>
                <a:ea typeface="微软雅黑"/>
              </a:rPr>
              <a:t>学生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1837944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46E7A"/>
                </a:solidFill>
                <a:latin typeface="微软雅黑"/>
                <a:ea typeface="微软雅黑"/>
              </a:rPr>
              <a:t>预约、使用、报修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" y="2249424"/>
            <a:ext cx="168981" cy="16898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22225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8912" y="2603479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43584" y="2249424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E65100"/>
                </a:solidFill>
                <a:latin typeface="微软雅黑"/>
                <a:ea typeface="微软雅黑"/>
              </a:rPr>
              <a:t>教师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3584" y="2478024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46E7A"/>
                </a:solidFill>
                <a:latin typeface="微软雅黑"/>
                <a:ea typeface="微软雅黑"/>
              </a:rPr>
              <a:t>组织课程实验、审核预约</a:t>
            </a:r>
          </a:p>
        </p:txBody>
      </p:sp>
      <p:sp>
        <p:nvSpPr>
          <p:cNvPr id="24" name="Oval 23"/>
          <p:cNvSpPr/>
          <p:nvPr/>
        </p:nvSpPr>
        <p:spPr>
          <a:xfrm>
            <a:off x="713232" y="2889504"/>
            <a:ext cx="168981" cy="16898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22225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38912" y="3243559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43584" y="2889504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E65100"/>
                </a:solidFill>
                <a:latin typeface="微软雅黑"/>
                <a:ea typeface="微软雅黑"/>
              </a:rPr>
              <a:t>实验室管理员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3584" y="3118104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46E7A"/>
                </a:solidFill>
                <a:latin typeface="微软雅黑"/>
                <a:ea typeface="微软雅黑"/>
              </a:rPr>
              <a:t>台账、工单、排期</a:t>
            </a:r>
          </a:p>
        </p:txBody>
      </p:sp>
      <p:sp>
        <p:nvSpPr>
          <p:cNvPr id="32" name="Oval 31"/>
          <p:cNvSpPr/>
          <p:nvPr/>
        </p:nvSpPr>
        <p:spPr>
          <a:xfrm>
            <a:off x="713232" y="3529583"/>
            <a:ext cx="168981" cy="16898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22225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38912" y="3883638"/>
            <a:ext cx="95097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43584" y="3529583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E65100"/>
                </a:solidFill>
                <a:latin typeface="微软雅黑"/>
                <a:ea typeface="微软雅黑"/>
              </a:rPr>
              <a:t>系统管理员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43584" y="3758183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46E7A"/>
                </a:solidFill>
                <a:latin typeface="微软雅黑"/>
                <a:ea typeface="微软雅黑"/>
              </a:rPr>
              <a:t>用户与权限管理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279392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6A1B9A"/>
                </a:solidFill>
                <a:latin typeface="微软雅黑"/>
                <a:ea typeface="微软雅黑"/>
              </a:rPr>
              <a:t>次要参与者（画在用例图右侧）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4572000"/>
            <a:ext cx="1389888" cy="329184"/>
          </a:xfrm>
          <a:prstGeom prst="roundRect">
            <a:avLst>
              <a:gd name="adj" fmla="val 22000"/>
            </a:avLst>
          </a:prstGeom>
          <a:solidFill>
            <a:srgbClr val="F3E5F5"/>
          </a:solidFill>
          <a:ln w="95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4636008"/>
            <a:ext cx="13898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A1B9A"/>
                </a:solidFill>
                <a:latin typeface="微软雅黑"/>
                <a:ea typeface="微软雅黑"/>
              </a:rPr>
              <a:t>定时任务调度器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84248" y="4572000"/>
            <a:ext cx="1389888" cy="329184"/>
          </a:xfrm>
          <a:prstGeom prst="roundRect">
            <a:avLst>
              <a:gd name="adj" fmla="val 22000"/>
            </a:avLst>
          </a:prstGeom>
          <a:solidFill>
            <a:srgbClr val="F3E5F5"/>
          </a:solidFill>
          <a:ln w="95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984248" y="4636008"/>
            <a:ext cx="13898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A1B9A"/>
                </a:solidFill>
                <a:latin typeface="微软雅黑"/>
                <a:ea typeface="微软雅黑"/>
              </a:rPr>
              <a:t>邮件 / 短信网关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65576" y="4572000"/>
            <a:ext cx="1389888" cy="329184"/>
          </a:xfrm>
          <a:prstGeom prst="roundRect">
            <a:avLst>
              <a:gd name="adj" fmla="val 22000"/>
            </a:avLst>
          </a:prstGeom>
          <a:solidFill>
            <a:srgbClr val="F3E5F5"/>
          </a:solidFill>
          <a:ln w="95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465576" y="4636008"/>
            <a:ext cx="13898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A1B9A"/>
                </a:solidFill>
                <a:latin typeface="微软雅黑"/>
                <a:ea typeface="微软雅黑"/>
              </a:rPr>
              <a:t>二维码标签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5102352"/>
            <a:ext cx="4462272" cy="1078992"/>
          </a:xfrm>
          <a:prstGeom prst="roundRect">
            <a:avLst>
              <a:gd name="adj" fmla="val 10000"/>
            </a:avLst>
          </a:prstGeom>
          <a:solidFill>
            <a:srgbClr val="E8F4FD"/>
          </a:solidFill>
          <a:ln w="1270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13232" y="5230368"/>
            <a:ext cx="411480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参与者的划分依据是</a:t>
            </a:r>
            <a:r>
              <a:rPr sz="1050" b="1">
                <a:solidFill>
                  <a:srgbClr val="263238"/>
                </a:solidFill>
                <a:latin typeface="微软雅黑"/>
                <a:ea typeface="微软雅黑"/>
              </a:rPr>
              <a:t>职责边界</a:t>
            </a: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：谁能借设备、谁能批预约、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谁管设备、谁管系统，四类人看到的功能菜单完全不同。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57800" y="128016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D47A1"/>
                </a:solidFill>
                <a:latin typeface="微软雅黑"/>
                <a:ea typeface="微软雅黑"/>
              </a:rPr>
              <a:t>二、15 个用例按子系统分组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257800" y="1609344"/>
            <a:ext cx="6428232" cy="1298448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 w="1270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404104" y="1682496"/>
            <a:ext cx="61356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976D2"/>
                </a:solidFill>
                <a:latin typeface="微软雅黑"/>
                <a:ea typeface="微软雅黑"/>
              </a:rPr>
              <a:t>基础支撑子系统</a:t>
            </a:r>
          </a:p>
        </p:txBody>
      </p:sp>
      <p:sp>
        <p:nvSpPr>
          <p:cNvPr id="52" name="Oval 51"/>
          <p:cNvSpPr/>
          <p:nvPr/>
        </p:nvSpPr>
        <p:spPr>
          <a:xfrm>
            <a:off x="5404104" y="2007108"/>
            <a:ext cx="109728" cy="109728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577840" y="1956816"/>
            <a:ext cx="59161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UC-01 用户登录与身份认证</a:t>
            </a:r>
          </a:p>
        </p:txBody>
      </p:sp>
      <p:sp>
        <p:nvSpPr>
          <p:cNvPr id="54" name="Oval 53"/>
          <p:cNvSpPr/>
          <p:nvPr/>
        </p:nvSpPr>
        <p:spPr>
          <a:xfrm>
            <a:off x="5404104" y="2007108"/>
            <a:ext cx="109728" cy="109728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77840" y="1956816"/>
            <a:ext cx="59161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UC-02 扫码查询设备信息</a:t>
            </a:r>
          </a:p>
        </p:txBody>
      </p:sp>
      <p:sp>
        <p:nvSpPr>
          <p:cNvPr id="56" name="Oval 55"/>
          <p:cNvSpPr/>
          <p:nvPr/>
        </p:nvSpPr>
        <p:spPr>
          <a:xfrm>
            <a:off x="5404104" y="2007108"/>
            <a:ext cx="109728" cy="109728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577840" y="1956816"/>
            <a:ext cx="59161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UC-11 维护设备台账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257800" y="3035808"/>
            <a:ext cx="6428232" cy="1298448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404104" y="3108960"/>
            <a:ext cx="61356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预约调度子系统（核心）</a:t>
            </a:r>
          </a:p>
        </p:txBody>
      </p:sp>
      <p:sp>
        <p:nvSpPr>
          <p:cNvPr id="60" name="Oval 59"/>
          <p:cNvSpPr/>
          <p:nvPr/>
        </p:nvSpPr>
        <p:spPr>
          <a:xfrm>
            <a:off x="5404104" y="3433572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577840" y="3383280"/>
            <a:ext cx="28483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UC-03 提交设备预约申请 ★</a:t>
            </a:r>
          </a:p>
        </p:txBody>
      </p:sp>
      <p:sp>
        <p:nvSpPr>
          <p:cNvPr id="62" name="Oval 61"/>
          <p:cNvSpPr/>
          <p:nvPr/>
        </p:nvSpPr>
        <p:spPr>
          <a:xfrm>
            <a:off x="5404104" y="3433572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577840" y="3383280"/>
            <a:ext cx="28483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UC-04 审核设备预约申请</a:t>
            </a:r>
          </a:p>
        </p:txBody>
      </p:sp>
      <p:sp>
        <p:nvSpPr>
          <p:cNvPr id="64" name="Oval 63"/>
          <p:cNvSpPr/>
          <p:nvPr/>
        </p:nvSpPr>
        <p:spPr>
          <a:xfrm>
            <a:off x="5404104" y="3433572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577840" y="3383280"/>
            <a:ext cx="28483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UC-08 查询设备可用时段</a:t>
            </a:r>
          </a:p>
        </p:txBody>
      </p:sp>
      <p:sp>
        <p:nvSpPr>
          <p:cNvPr id="66" name="Oval 65"/>
          <p:cNvSpPr/>
          <p:nvPr/>
        </p:nvSpPr>
        <p:spPr>
          <a:xfrm>
            <a:off x="8471916" y="3433572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645652" y="3383280"/>
            <a:ext cx="28483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UC-05 设备签到与签退</a:t>
            </a:r>
          </a:p>
        </p:txBody>
      </p:sp>
      <p:sp>
        <p:nvSpPr>
          <p:cNvPr id="68" name="Oval 67"/>
          <p:cNvSpPr/>
          <p:nvPr/>
        </p:nvSpPr>
        <p:spPr>
          <a:xfrm>
            <a:off x="8471916" y="3433572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645652" y="3383280"/>
            <a:ext cx="28483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UC-09 管理实验室开放时段</a:t>
            </a:r>
          </a:p>
        </p:txBody>
      </p:sp>
      <p:sp>
        <p:nvSpPr>
          <p:cNvPr id="70" name="Oval 69"/>
          <p:cNvSpPr/>
          <p:nvPr/>
        </p:nvSpPr>
        <p:spPr>
          <a:xfrm>
            <a:off x="8471916" y="3433572"/>
            <a:ext cx="109728" cy="10972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645652" y="3383280"/>
            <a:ext cx="28483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UC-10 导入课程占用排期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257800" y="4462272"/>
            <a:ext cx="6428232" cy="1298448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404104" y="4535424"/>
            <a:ext cx="61356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E65100"/>
                </a:solidFill>
                <a:latin typeface="微软雅黑"/>
                <a:ea typeface="微软雅黑"/>
              </a:rPr>
              <a:t>运维与洞察子系统</a:t>
            </a:r>
          </a:p>
        </p:txBody>
      </p:sp>
      <p:sp>
        <p:nvSpPr>
          <p:cNvPr id="74" name="Oval 73"/>
          <p:cNvSpPr/>
          <p:nvPr/>
        </p:nvSpPr>
        <p:spPr>
          <a:xfrm>
            <a:off x="5404104" y="4860036"/>
            <a:ext cx="109728" cy="109728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577840" y="4809744"/>
            <a:ext cx="28483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UC-06 提交设备报修申请</a:t>
            </a:r>
          </a:p>
        </p:txBody>
      </p:sp>
      <p:sp>
        <p:nvSpPr>
          <p:cNvPr id="76" name="Oval 75"/>
          <p:cNvSpPr/>
          <p:nvPr/>
        </p:nvSpPr>
        <p:spPr>
          <a:xfrm>
            <a:off x="5404104" y="4860036"/>
            <a:ext cx="109728" cy="109728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577840" y="4809744"/>
            <a:ext cx="28483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UC-07 处理报修工单</a:t>
            </a:r>
          </a:p>
        </p:txBody>
      </p:sp>
      <p:sp>
        <p:nvSpPr>
          <p:cNvPr id="78" name="Oval 77"/>
          <p:cNvSpPr/>
          <p:nvPr/>
        </p:nvSpPr>
        <p:spPr>
          <a:xfrm>
            <a:off x="5404104" y="4860036"/>
            <a:ext cx="109728" cy="109728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577840" y="4809744"/>
            <a:ext cx="28483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UC-13 维保到期提醒</a:t>
            </a:r>
          </a:p>
        </p:txBody>
      </p:sp>
      <p:sp>
        <p:nvSpPr>
          <p:cNvPr id="80" name="Oval 79"/>
          <p:cNvSpPr/>
          <p:nvPr/>
        </p:nvSpPr>
        <p:spPr>
          <a:xfrm>
            <a:off x="8471916" y="4860036"/>
            <a:ext cx="109728" cy="109728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645652" y="4809744"/>
            <a:ext cx="28483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UC-12 查看使用统计报表</a:t>
            </a:r>
          </a:p>
        </p:txBody>
      </p:sp>
      <p:sp>
        <p:nvSpPr>
          <p:cNvPr id="82" name="Oval 81"/>
          <p:cNvSpPr/>
          <p:nvPr/>
        </p:nvSpPr>
        <p:spPr>
          <a:xfrm>
            <a:off x="8471916" y="4860036"/>
            <a:ext cx="109728" cy="109728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645652" y="4809744"/>
            <a:ext cx="28483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UC-14 预测设备需求热度</a:t>
            </a:r>
          </a:p>
        </p:txBody>
      </p:sp>
      <p:sp>
        <p:nvSpPr>
          <p:cNvPr id="84" name="Oval 83"/>
          <p:cNvSpPr/>
          <p:nvPr/>
        </p:nvSpPr>
        <p:spPr>
          <a:xfrm>
            <a:off x="8471916" y="4860036"/>
            <a:ext cx="109728" cy="109728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645652" y="4809744"/>
            <a:ext cx="284835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UC-15 评估设备故障风险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257800" y="5888736"/>
            <a:ext cx="64282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546E7A"/>
                </a:solidFill>
                <a:latin typeface="微软雅黑"/>
                <a:ea typeface="微软雅黑"/>
              </a:rPr>
              <a:t>★ 为核心用例；UC-14、UC-15 为智能预测功能，是本项目的差异化创新点。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2920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9EADB5"/>
                </a:solidFill>
                <a:latin typeface="微软雅黑"/>
                <a:ea typeface="微软雅黑"/>
              </a:rPr>
              <a:t>智汇实验室 LabHub ｜ 软件课程设计 第一周开题汇报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D47A1"/>
                </a:solidFill>
                <a:latin typeface="微软雅黑"/>
                <a:ea typeface="微软雅黑"/>
              </a:rPr>
              <a:t>用例图：系统总用例图（核心部分）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46E7A"/>
                </a:solidFill>
                <a:latin typeface="微软雅黑"/>
                <a:ea typeface="微软雅黑"/>
              </a:rPr>
              <a:t>完整用例图见文档《用例图》文件夹下的 4 个 .drawio 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12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2700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88920" y="1298448"/>
            <a:ext cx="5532120" cy="4617720"/>
          </a:xfrm>
          <a:prstGeom prst="roundRect">
            <a:avLst>
              <a:gd name="adj" fmla="val 2000"/>
            </a:avLst>
          </a:prstGeom>
          <a:solidFill>
            <a:srgbClr val="FAFCFE"/>
          </a:solidFill>
          <a:ln w="1905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88920" y="1389888"/>
            <a:ext cx="5532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D47A1"/>
                </a:solidFill>
                <a:latin typeface="微软雅黑"/>
                <a:ea typeface="微软雅黑"/>
              </a:rPr>
              <a:t>智汇实验室 LabHub 系统边界</a:t>
            </a:r>
          </a:p>
        </p:txBody>
      </p:sp>
      <p:sp>
        <p:nvSpPr>
          <p:cNvPr id="9" name="Oval 8"/>
          <p:cNvSpPr/>
          <p:nvPr/>
        </p:nvSpPr>
        <p:spPr>
          <a:xfrm>
            <a:off x="3310128" y="1755648"/>
            <a:ext cx="2395728" cy="420624"/>
          </a:xfrm>
          <a:prstGeom prst="ellipse">
            <a:avLst/>
          </a:prstGeom>
          <a:solidFill>
            <a:srgbClr val="E8F4FD"/>
          </a:solidFill>
          <a:ln w="1270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UC-01 用户登录与身份认证</a:t>
            </a:r>
          </a:p>
        </p:txBody>
      </p:sp>
      <p:sp>
        <p:nvSpPr>
          <p:cNvPr id="10" name="Oval 9"/>
          <p:cNvSpPr/>
          <p:nvPr/>
        </p:nvSpPr>
        <p:spPr>
          <a:xfrm>
            <a:off x="3310128" y="2304288"/>
            <a:ext cx="2395728" cy="420624"/>
          </a:xfrm>
          <a:prstGeom prst="ellipse">
            <a:avLst/>
          </a:prstGeom>
          <a:solidFill>
            <a:srgbClr val="E8F4FD"/>
          </a:solidFill>
          <a:ln w="1270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UC-02 扫码查询设备信息</a:t>
            </a:r>
          </a:p>
        </p:txBody>
      </p:sp>
      <p:sp>
        <p:nvSpPr>
          <p:cNvPr id="11" name="Oval 10"/>
          <p:cNvSpPr/>
          <p:nvPr/>
        </p:nvSpPr>
        <p:spPr>
          <a:xfrm>
            <a:off x="3310128" y="2852928"/>
            <a:ext cx="2395728" cy="420624"/>
          </a:xfrm>
          <a:prstGeom prst="ellipse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E7D32"/>
                </a:solidFill>
                <a:latin typeface="微软雅黑"/>
                <a:ea typeface="微软雅黑"/>
              </a:rPr>
              <a:t>UC-03 提交设备预约申请</a:t>
            </a:r>
          </a:p>
        </p:txBody>
      </p:sp>
      <p:sp>
        <p:nvSpPr>
          <p:cNvPr id="12" name="Oval 11"/>
          <p:cNvSpPr/>
          <p:nvPr/>
        </p:nvSpPr>
        <p:spPr>
          <a:xfrm>
            <a:off x="3310128" y="3401568"/>
            <a:ext cx="2395728" cy="420624"/>
          </a:xfrm>
          <a:prstGeom prst="ellipse">
            <a:avLst/>
          </a:prstGeom>
          <a:solidFill>
            <a:srgbClr val="E8F4FD"/>
          </a:solidFill>
          <a:ln w="1270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UC-08 查询设备可用时段</a:t>
            </a:r>
          </a:p>
        </p:txBody>
      </p:sp>
      <p:sp>
        <p:nvSpPr>
          <p:cNvPr id="13" name="Oval 12"/>
          <p:cNvSpPr/>
          <p:nvPr/>
        </p:nvSpPr>
        <p:spPr>
          <a:xfrm>
            <a:off x="3310128" y="3950208"/>
            <a:ext cx="2395728" cy="420624"/>
          </a:xfrm>
          <a:prstGeom prst="ellipse">
            <a:avLst/>
          </a:prstGeom>
          <a:solidFill>
            <a:srgbClr val="E8F4FD"/>
          </a:solidFill>
          <a:ln w="1270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UC-04 审核设备预约申请</a:t>
            </a:r>
          </a:p>
        </p:txBody>
      </p:sp>
      <p:sp>
        <p:nvSpPr>
          <p:cNvPr id="14" name="Oval 13"/>
          <p:cNvSpPr/>
          <p:nvPr/>
        </p:nvSpPr>
        <p:spPr>
          <a:xfrm>
            <a:off x="3310128" y="4498848"/>
            <a:ext cx="2395728" cy="420624"/>
          </a:xfrm>
          <a:prstGeom prst="ellipse">
            <a:avLst/>
          </a:prstGeom>
          <a:solidFill>
            <a:srgbClr val="E8F4FD"/>
          </a:solidFill>
          <a:ln w="1270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UC-05 设备签到与签退</a:t>
            </a:r>
          </a:p>
        </p:txBody>
      </p:sp>
      <p:sp>
        <p:nvSpPr>
          <p:cNvPr id="15" name="Oval 14"/>
          <p:cNvSpPr/>
          <p:nvPr/>
        </p:nvSpPr>
        <p:spPr>
          <a:xfrm>
            <a:off x="3310128" y="5047488"/>
            <a:ext cx="2395728" cy="420624"/>
          </a:xfrm>
          <a:prstGeom prst="ellipse">
            <a:avLst/>
          </a:prstGeom>
          <a:solidFill>
            <a:srgbClr val="E8F4FD"/>
          </a:solidFill>
          <a:ln w="1270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UC-06 提交设备报修申请</a:t>
            </a:r>
          </a:p>
        </p:txBody>
      </p:sp>
      <p:sp>
        <p:nvSpPr>
          <p:cNvPr id="16" name="Oval 15"/>
          <p:cNvSpPr/>
          <p:nvPr/>
        </p:nvSpPr>
        <p:spPr>
          <a:xfrm>
            <a:off x="3310128" y="5596128"/>
            <a:ext cx="2395728" cy="420624"/>
          </a:xfrm>
          <a:prstGeom prst="ellipse">
            <a:avLst/>
          </a:prstGeom>
          <a:solidFill>
            <a:srgbClr val="E8F4FD"/>
          </a:solidFill>
          <a:ln w="1270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UC-07 处理报修工单</a:t>
            </a:r>
          </a:p>
        </p:txBody>
      </p:sp>
      <p:sp>
        <p:nvSpPr>
          <p:cNvPr id="17" name="Oval 16"/>
          <p:cNvSpPr/>
          <p:nvPr/>
        </p:nvSpPr>
        <p:spPr>
          <a:xfrm>
            <a:off x="1234440" y="1874519"/>
            <a:ext cx="192024" cy="1920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22225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60120" y="2276855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65100"/>
                </a:solidFill>
                <a:latin typeface="微软雅黑"/>
                <a:ea typeface="微软雅黑"/>
              </a:rPr>
              <a:t>学生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965960" y="2148839"/>
            <a:ext cx="1344168" cy="0"/>
          </a:xfrm>
          <a:prstGeom prst="line">
            <a:avLst/>
          </a:prstGeom>
          <a:ln w="12700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234440" y="3337560"/>
            <a:ext cx="192024" cy="1920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22225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60120" y="3739896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65100"/>
                </a:solidFill>
                <a:latin typeface="微软雅黑"/>
                <a:ea typeface="微软雅黑"/>
              </a:rPr>
              <a:t>教师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965960" y="3611879"/>
            <a:ext cx="1344168" cy="0"/>
          </a:xfrm>
          <a:prstGeom prst="line">
            <a:avLst/>
          </a:prstGeom>
          <a:ln w="12700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234440" y="4800600"/>
            <a:ext cx="192024" cy="1920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22225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60120" y="5202936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65100"/>
                </a:solidFill>
                <a:latin typeface="微软雅黑"/>
                <a:ea typeface="微软雅黑"/>
              </a:rPr>
              <a:t>实验室管理员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965960" y="5074920"/>
            <a:ext cx="1344168" cy="0"/>
          </a:xfrm>
          <a:prstGeom prst="line">
            <a:avLst/>
          </a:prstGeom>
          <a:ln w="12700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9006840" y="1783080"/>
            <a:ext cx="192024" cy="1920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22225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32520" y="2185416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6A1B9A"/>
                </a:solidFill>
                <a:latin typeface="微软雅黑"/>
                <a:ea typeface="微软雅黑"/>
              </a:rPr>
              <a:t>定时任务调度器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321040" y="2057400"/>
            <a:ext cx="658368" cy="0"/>
          </a:xfrm>
          <a:prstGeom prst="line">
            <a:avLst/>
          </a:prstGeom>
          <a:ln w="12700">
            <a:solidFill>
              <a:srgbClr val="6A1B9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9006840" y="2606040"/>
            <a:ext cx="192024" cy="1920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46" name="Connector 4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22225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732520" y="3008376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6A1B9A"/>
                </a:solidFill>
                <a:latin typeface="微软雅黑"/>
                <a:ea typeface="微软雅黑"/>
              </a:rPr>
              <a:t>二维码标签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321040" y="2880360"/>
            <a:ext cx="658368" cy="0"/>
          </a:xfrm>
          <a:prstGeom prst="line">
            <a:avLst/>
          </a:prstGeom>
          <a:ln w="12700">
            <a:solidFill>
              <a:srgbClr val="6A1B9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9006840" y="5760720"/>
            <a:ext cx="192024" cy="1920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53" name="Connector 5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22225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732520" y="6163056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6A1B9A"/>
                </a:solidFill>
                <a:latin typeface="微软雅黑"/>
                <a:ea typeface="微软雅黑"/>
              </a:rPr>
              <a:t>邮件/短信网关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321040" y="6035040"/>
            <a:ext cx="658368" cy="0"/>
          </a:xfrm>
          <a:prstGeom prst="line">
            <a:avLst/>
          </a:prstGeom>
          <a:ln w="12700">
            <a:solidFill>
              <a:srgbClr val="6A1B9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502920" y="5961888"/>
            <a:ext cx="11183112" cy="384048"/>
          </a:xfrm>
          <a:prstGeom prst="roundRect">
            <a:avLst>
              <a:gd name="adj" fmla="val 28000"/>
            </a:avLst>
          </a:prstGeom>
          <a:solidFill>
            <a:srgbClr val="F5F7FA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02920" y="6035040"/>
            <a:ext cx="11183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546E7A"/>
                </a:solidFill>
                <a:latin typeface="微软雅黑"/>
                <a:ea typeface="微软雅黑"/>
              </a:rPr>
              <a:t>橙色 = 主要参与者（人）　紫色 = 次要参与者（系统 / 外部服务 / 物理载体）　绿色 = 系统核心用例　虚线 = include / extend 关系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D47A1"/>
                </a:solidFill>
                <a:latin typeface="微软雅黑"/>
                <a:ea typeface="微软雅黑"/>
              </a:rPr>
              <a:t>核心用例：UC-03 提交设备预约申请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46E7A"/>
                </a:solidFill>
                <a:latin typeface="微软雅黑"/>
                <a:ea typeface="微软雅黑"/>
              </a:rPr>
              <a:t>系统价值的最小可演示闭环，也是并发正确性要求最高的地方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13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2700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2618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0D47A1"/>
                </a:solidFill>
                <a:latin typeface="微软雅黑"/>
                <a:ea typeface="微软雅黑"/>
              </a:rPr>
              <a:t>主事件流（16 步，节选关键 8 步）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572768"/>
            <a:ext cx="274320" cy="274320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91056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63238"/>
                </a:solidFill>
                <a:latin typeface="微软雅黑"/>
                <a:ea typeface="微软雅黑"/>
              </a:rPr>
              <a:t>选择设备与预约时段，填写用途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1975104"/>
            <a:ext cx="274320" cy="274320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93392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63238"/>
                </a:solidFill>
                <a:latin typeface="微软雅黑"/>
                <a:ea typeface="微软雅黑"/>
              </a:rPr>
              <a:t>系统校验参数：时间格式、起止顺序、提前天数、时长 ≤ 8 小时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2377440"/>
            <a:ext cx="274320" cy="274320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95728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63238"/>
                </a:solidFill>
                <a:latin typeface="微软雅黑"/>
                <a:ea typeface="微软雅黑"/>
              </a:rPr>
              <a:t>系统校验设备状态、可预约数量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2779776"/>
            <a:ext cx="274320" cy="274320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8064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63238"/>
                </a:solidFill>
                <a:latin typeface="微软雅黑"/>
                <a:ea typeface="微软雅黑"/>
              </a:rPr>
              <a:t>系统校验时段是否落在实验室开放时间内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3182112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00400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2E7D32"/>
                </a:solidFill>
                <a:latin typeface="微软雅黑"/>
                <a:ea typeface="微软雅黑"/>
              </a:rPr>
              <a:t>获取 Redis 分布式锁</a:t>
            </a:r>
            <a:r>
              <a:rPr sz="1100" b="0">
                <a:solidFill>
                  <a:srgbClr val="2E7D32"/>
                </a:solidFill>
                <a:latin typeface="微软雅黑"/>
                <a:ea typeface="微软雅黑"/>
              </a:rPr>
              <a:t>（超时 3 秒）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3584448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02736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2E7D32"/>
                </a:solidFill>
                <a:latin typeface="微软雅黑"/>
                <a:ea typeface="微软雅黑"/>
              </a:rPr>
              <a:t>执行时段冲突检测查询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05072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63238"/>
                </a:solidFill>
                <a:latin typeface="微软雅黑"/>
                <a:ea typeface="微软雅黑"/>
              </a:rPr>
              <a:t>生成预约单号，写入预约记录，释放锁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" y="4389120"/>
            <a:ext cx="274320" cy="274320"/>
          </a:xfrm>
          <a:prstGeom prst="ellipse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07408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63238"/>
                </a:solidFill>
                <a:latin typeface="微软雅黑"/>
                <a:ea typeface="微软雅黑"/>
              </a:rPr>
              <a:t>异步推送通知给申请人与审核人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572768"/>
            <a:ext cx="5330952" cy="1920240"/>
          </a:xfrm>
          <a:prstGeom prst="roundRect">
            <a:avLst>
              <a:gd name="adj" fmla="val 6000"/>
            </a:avLst>
          </a:prstGeom>
          <a:solidFill>
            <a:srgbClr val="E8F4FD"/>
          </a:solidFill>
          <a:ln w="1270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65392" y="1700784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D47A1"/>
                </a:solidFill>
                <a:latin typeface="微软雅黑"/>
                <a:ea typeface="微软雅黑"/>
              </a:rPr>
              <a:t>业务规则（R1 冲突判定 · R2 并发安全）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2011680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100" b="1">
                <a:solidFill>
                  <a:srgbClr val="263238"/>
                </a:solidFill>
                <a:latin typeface="微软雅黑"/>
                <a:ea typeface="微软雅黑"/>
              </a:rPr>
              <a:t>R1</a:t>
            </a:r>
            <a:r>
              <a:rPr sz="1100" b="0">
                <a:solidFill>
                  <a:srgbClr val="263238"/>
                </a:solidFill>
                <a:latin typeface="微软雅黑"/>
                <a:ea typeface="微软雅黑"/>
              </a:rPr>
              <a:t> 已有预约 start_time ＜ 本次 end_time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100" b="0">
                <a:solidFill>
                  <a:srgbClr val="263238"/>
                </a:solidFill>
                <a:latin typeface="微软雅黑"/>
                <a:ea typeface="微软雅黑"/>
              </a:rPr>
              <a:t>　　且已有预约 end_time ＞ 本次 start_time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100" b="0">
                <a:solidFill>
                  <a:srgbClr val="263238"/>
                </a:solidFill>
                <a:latin typeface="微软雅黑"/>
                <a:ea typeface="微软雅黑"/>
              </a:rPr>
              <a:t>　　且已有预约状态 ∈ {待审核, 已通过, 使用中}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endParaRPr sz="1100" b="0">
              <a:solidFill>
                <a:srgbClr val="263238"/>
              </a:solidFill>
              <a:latin typeface="微软雅黑"/>
              <a:ea typeface="微软雅黑"/>
            </a:endParaRP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100" b="1">
                <a:solidFill>
                  <a:srgbClr val="263238"/>
                </a:solidFill>
                <a:latin typeface="微软雅黑"/>
                <a:ea typeface="微软雅黑"/>
              </a:rPr>
              <a:t>R2</a:t>
            </a:r>
            <a:r>
              <a:rPr sz="1100" b="0">
                <a:solidFill>
                  <a:srgbClr val="263238"/>
                </a:solidFill>
                <a:latin typeface="微软雅黑"/>
                <a:ea typeface="微软雅黑"/>
              </a:rPr>
              <a:t> 冲突检测与写入必须在</a:t>
            </a:r>
            <a:r>
              <a:rPr sz="1100" b="1">
                <a:solidFill>
                  <a:srgbClr val="263238"/>
                </a:solidFill>
                <a:latin typeface="微软雅黑"/>
                <a:ea typeface="微软雅黑"/>
              </a:rPr>
              <a:t>同一分布式锁临界区内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100" b="0">
                <a:solidFill>
                  <a:srgbClr val="263238"/>
                </a:solidFill>
                <a:latin typeface="微软雅黑"/>
                <a:ea typeface="微软雅黑"/>
              </a:rPr>
              <a:t>　　完成，杜绝并发超卖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639312"/>
            <a:ext cx="5330952" cy="2212848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65392" y="3767328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E65100"/>
                </a:solidFill>
                <a:latin typeface="微软雅黑"/>
                <a:ea typeface="微软雅黑"/>
              </a:rPr>
              <a:t>主要异常流（共 7 条，节选）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4078224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参数非法、设备不可用、数量不足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4361688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时段超出实验室开放时间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464515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获取分布式锁失败（重试 3 次）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4928616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存在未处理的爽约记录，限制预约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5212080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数据库写入失败 → 回滚事务 + 释放锁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5495544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E65100"/>
                </a:solidFill>
                <a:latin typeface="微软雅黑"/>
                <a:ea typeface="微软雅黑"/>
              </a:rPr>
              <a:t>★ 时段冲突 → 返回 409 + 冲突明细 + 推荐时段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355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9EADB5"/>
                </a:solidFill>
                <a:latin typeface="微软雅黑"/>
                <a:ea typeface="微软雅黑"/>
              </a:rPr>
              <a:t>智汇实验室 LabHub ｜ 软件课程设计 第一周开题汇报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D47A1"/>
                </a:solidFill>
                <a:latin typeface="微软雅黑"/>
                <a:ea typeface="微软雅黑"/>
              </a:rPr>
              <a:t>核心算法：预约时段冲突检测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46E7A"/>
                </a:solidFill>
                <a:latin typeface="微软雅黑"/>
                <a:ea typeface="微软雅黑"/>
              </a:rPr>
              <a:t>系统能否成立，取决于这一段逻辑是否可靠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14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2700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2618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0D47A1"/>
                </a:solidFill>
                <a:latin typeface="微软雅黑"/>
                <a:ea typeface="微软雅黑"/>
              </a:rPr>
              <a:t>一、时段重叠的数学判断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72768"/>
            <a:ext cx="5440680" cy="178308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822960" y="2029968"/>
            <a:ext cx="4800600" cy="0"/>
          </a:xfrm>
          <a:prstGeom prst="line">
            <a:avLst/>
          </a:prstGeom>
          <a:ln w="12700">
            <a:solidFill>
              <a:srgbClr val="546E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2084831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46E7A"/>
                </a:solidFill>
                <a:latin typeface="微软雅黑"/>
                <a:ea typeface="微软雅黑"/>
              </a:rPr>
              <a:t>时间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1755648"/>
            <a:ext cx="1691640" cy="274320"/>
          </a:xfrm>
          <a:prstGeom prst="roundRect">
            <a:avLst>
              <a:gd name="adj" fmla="val 18000"/>
            </a:avLst>
          </a:prstGeom>
          <a:solidFill>
            <a:srgbClr val="E8F4FD"/>
          </a:solidFill>
          <a:ln w="1270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1792224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0D47A1"/>
                </a:solidFill>
                <a:latin typeface="微软雅黑"/>
                <a:ea typeface="微软雅黑"/>
              </a:rPr>
              <a:t>已有预约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2157984"/>
            <a:ext cx="1691640" cy="274320"/>
          </a:xfrm>
          <a:prstGeom prst="roundRect">
            <a:avLst>
              <a:gd name="adj" fmla="val 18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23160" y="2194560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E65100"/>
                </a:solidFill>
                <a:latin typeface="微软雅黑"/>
                <a:ea typeface="微软雅黑"/>
              </a:rPr>
              <a:t>本次申请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23160" y="1755648"/>
            <a:ext cx="457200" cy="676656"/>
          </a:xfrm>
          <a:prstGeom prst="roundRect">
            <a:avLst>
              <a:gd name="adj" fmla="val 5000"/>
            </a:avLst>
          </a:prstGeom>
          <a:solidFill>
            <a:srgbClr val="FFCDD2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40280" y="276148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C62828"/>
                </a:solidFill>
                <a:latin typeface="微软雅黑"/>
                <a:ea typeface="微软雅黑"/>
              </a:rPr>
              <a:t>重叠区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035808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263238"/>
                </a:solidFill>
                <a:latin typeface="微软雅黑"/>
                <a:ea typeface="微软雅黑"/>
              </a:rPr>
              <a:t>两个时段重叠的充要条件：</a:t>
            </a:r>
            <a:r>
              <a:rPr sz="1150" b="1">
                <a:solidFill>
                  <a:srgbClr val="263238"/>
                </a:solidFill>
                <a:latin typeface="微软雅黑"/>
                <a:ea typeface="微软雅黑"/>
              </a:rPr>
              <a:t>S₁ ＜ E₂ 且 S₂ ＜ E₁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49300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0D47A1"/>
                </a:solidFill>
                <a:latin typeface="微软雅黑"/>
                <a:ea typeface="微软雅黑"/>
              </a:rPr>
              <a:t>二、对应的 SQL 查询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85615"/>
            <a:ext cx="5440680" cy="1481328"/>
          </a:xfrm>
          <a:prstGeom prst="roundRect">
            <a:avLst>
              <a:gd name="adj" fmla="val 4000"/>
            </a:avLst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3895344"/>
            <a:ext cx="5120640" cy="1298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100" b="0">
                <a:solidFill>
                  <a:srgbClr val="B3E5FC"/>
                </a:solidFill>
                <a:latin typeface="微软雅黑"/>
                <a:ea typeface="微软雅黑"/>
              </a:rPr>
              <a:t>SELECT COUNT(*) FROM booking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100" b="0">
                <a:solidFill>
                  <a:srgbClr val="B3E5FC"/>
                </a:solidFill>
                <a:latin typeface="微软雅黑"/>
                <a:ea typeface="微软雅黑"/>
              </a:rPr>
              <a:t>WHERE equipment_id = #{equipmentId}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100" b="0">
                <a:solidFill>
                  <a:srgbClr val="B3E5FC"/>
                </a:solidFill>
                <a:latin typeface="微软雅黑"/>
                <a:ea typeface="微软雅黑"/>
              </a:rPr>
              <a:t>  AND status IN (1, 2, 4)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100" b="0">
                <a:solidFill>
                  <a:srgbClr val="B3E5FC"/>
                </a:solidFill>
                <a:latin typeface="微软雅黑"/>
                <a:ea typeface="微软雅黑"/>
              </a:rPr>
              <a:t>  AND start_time &lt; #{endTime}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100" b="0">
                <a:solidFill>
                  <a:srgbClr val="B3E5FC"/>
                </a:solidFill>
                <a:latin typeface="微软雅黑"/>
                <a:ea typeface="微软雅黑"/>
              </a:rPr>
              <a:t>  AND end_time   &gt; #{startTime}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376672"/>
            <a:ext cx="5440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546E7A"/>
                </a:solidFill>
                <a:latin typeface="微软雅黑"/>
                <a:ea typeface="微软雅黑"/>
              </a:rPr>
              <a:t>status ∈ {1 待审核, 2 已通过, 4 使用中} 才占用时段；已驳回、已取消、已完成的预约必须排除。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261872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0D47A1"/>
                </a:solidFill>
                <a:latin typeface="微软雅黑"/>
                <a:ea typeface="微软雅黑"/>
              </a:rPr>
              <a:t>三、并发问题及解决办法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1572768"/>
            <a:ext cx="5239512" cy="123444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56832" y="1682496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C62828"/>
                </a:solidFill>
                <a:latin typeface="微软雅黑"/>
                <a:ea typeface="微软雅黑"/>
              </a:rPr>
              <a:t>⚠ 只做上面这个查询会有一个漏洞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2" y="1975104"/>
            <a:ext cx="484632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两位用户几乎同时提交同一台设备的同一时段时，两条线程可能都查到「没有冲突」，然后都插入成功——结果就是</a:t>
            </a:r>
            <a:r>
              <a:rPr sz="1050" b="1">
                <a:solidFill>
                  <a:srgbClr val="263238"/>
                </a:solidFill>
                <a:latin typeface="微软雅黑"/>
                <a:ea typeface="微软雅黑"/>
              </a:rPr>
              <a:t>超卖</a:t>
            </a: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2926080"/>
            <a:ext cx="5239512" cy="14173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56832" y="3035808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2E7D32"/>
                </a:solidFill>
                <a:latin typeface="微软雅黑"/>
                <a:ea typeface="微软雅黑"/>
              </a:rPr>
              <a:t>✓ 解决办法：给临界区加分布式锁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6832" y="3310128"/>
            <a:ext cx="4846320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锁 key = "booking:lock:equip:" + 设备ID，SETNX 超时 3 秒。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把「查询冲突 + 插入预约」放进同一把锁内串行执行。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锁释放放在 finally 块中，保证异常时也不会死锁。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4462272"/>
            <a:ext cx="5239512" cy="146304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1270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56832" y="4572000"/>
            <a:ext cx="4846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0D47A1"/>
                </a:solidFill>
                <a:latin typeface="微软雅黑"/>
                <a:ea typeface="微软雅黑"/>
              </a:rPr>
              <a:t>为什么这样做不会拖慢性能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832" y="4846320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已有索引 idx_equip_time(equipment_id, start_time, end_time, status)，冲突查询在毫秒级完成，锁的持有时间极短，不影响并发体验。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endParaRPr sz="1050" b="0">
              <a:solidFill>
                <a:srgbClr val="263238"/>
              </a:solidFill>
              <a:latin typeface="微软雅黑"/>
              <a:ea typeface="微软雅黑"/>
            </a:endParaRP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三层防护：分布式锁 → 时间区间查询 → 索引兜底。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D47A1"/>
                </a:solidFill>
                <a:latin typeface="微软雅黑"/>
                <a:ea typeface="微软雅黑"/>
              </a:rPr>
              <a:t>可行性评估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46E7A"/>
                </a:solidFill>
                <a:latin typeface="微软雅黑"/>
                <a:ea typeface="微软雅黑"/>
              </a:rPr>
              <a:t>从技术、条件、时间、规模四个维度评估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2700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353312"/>
            <a:ext cx="5440680" cy="1901952"/>
          </a:xfrm>
          <a:prstGeom prst="roundRect">
            <a:avLst>
              <a:gd name="adj" fmla="val 7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" y="15361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E7D32"/>
                </a:solidFill>
                <a:latin typeface="微软雅黑"/>
                <a:ea typeface="微软雅黑"/>
              </a:rPr>
              <a:t>技术可行性</a:t>
            </a:r>
          </a:p>
        </p:txBody>
      </p:sp>
      <p:sp>
        <p:nvSpPr>
          <p:cNvPr id="9" name="Oval 8"/>
          <p:cNvSpPr/>
          <p:nvPr/>
        </p:nvSpPr>
        <p:spPr>
          <a:xfrm>
            <a:off x="5120640" y="1508760"/>
            <a:ext cx="566928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938528"/>
            <a:ext cx="5029200" cy="1207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全部采用成熟开源技术，无自研底层框架。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团队已掌握 Vue、Spring Boot、MySQL、Python。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需额外学习：Redis 锁约 2 天、scikit-learn 约 3 天、Docker 约 1 天，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合计约一周课外时间可消化。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353312"/>
            <a:ext cx="5440680" cy="1901952"/>
          </a:xfrm>
          <a:prstGeom prst="roundRect">
            <a:avLst>
              <a:gd name="adj" fmla="val 7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8" y="15361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E7D32"/>
                </a:solidFill>
                <a:latin typeface="微软雅黑"/>
                <a:ea typeface="微软雅黑"/>
              </a:rPr>
              <a:t>条件可行性</a:t>
            </a:r>
          </a:p>
        </p:txBody>
      </p:sp>
      <p:sp>
        <p:nvSpPr>
          <p:cNvPr id="13" name="Oval 12"/>
          <p:cNvSpPr/>
          <p:nvPr/>
        </p:nvSpPr>
        <p:spPr>
          <a:xfrm>
            <a:off x="10863072" y="1508760"/>
            <a:ext cx="566928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938528"/>
            <a:ext cx="5029200" cy="1207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需求方真实可接触：本校实验室管理员和任课教师就是直接用户，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随时可访谈。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无硬件依赖，二维码用普通打印机即可。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本机已验证具备 JDK 8、Node.js、Python 环境。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56432"/>
            <a:ext cx="5440680" cy="1901952"/>
          </a:xfrm>
          <a:prstGeom prst="roundRect">
            <a:avLst>
              <a:gd name="adj" fmla="val 7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" y="363931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E7D32"/>
                </a:solidFill>
                <a:latin typeface="微软雅黑"/>
                <a:ea typeface="微软雅黑"/>
              </a:rPr>
              <a:t>规模可行性</a:t>
            </a:r>
          </a:p>
        </p:txBody>
      </p:sp>
      <p:sp>
        <p:nvSpPr>
          <p:cNvPr id="17" name="Oval 16"/>
          <p:cNvSpPr/>
          <p:nvPr/>
        </p:nvSpPr>
        <p:spPr>
          <a:xfrm>
            <a:off x="5120640" y="3611880"/>
            <a:ext cx="566928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4041648"/>
            <a:ext cx="5029200" cy="1207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8 个功能模块、42 个功能点、22 张数据表、约 45 个后端接口、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15 个前端页面，代码约 1.5 万行。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规模足以体现工作量，又不会失控；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8 个模块可切成 4 条并行开发线，与 4 人编制对应。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3456432"/>
            <a:ext cx="5440680" cy="1901952"/>
          </a:xfrm>
          <a:prstGeom prst="roundRect">
            <a:avLst>
              <a:gd name="adj" fmla="val 7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8" y="363931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E65100"/>
                </a:solidFill>
                <a:latin typeface="微软雅黑"/>
                <a:ea typeface="微软雅黑"/>
              </a:rPr>
              <a:t>时间可行性</a:t>
            </a:r>
          </a:p>
        </p:txBody>
      </p:sp>
      <p:sp>
        <p:nvSpPr>
          <p:cNvPr id="21" name="Oval 20"/>
          <p:cNvSpPr/>
          <p:nvPr/>
        </p:nvSpPr>
        <p:spPr>
          <a:xfrm>
            <a:off x="10863072" y="3611880"/>
            <a:ext cx="566928" cy="329184"/>
          </a:xfrm>
          <a:prstGeom prst="ellipse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较高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4041648"/>
            <a:ext cx="5029200" cy="1207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课程 32 学时 + 课外约 128 人时，共约 160 人时。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每人每周约 10 小时，强度合理。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F8 智能模块与主系统解耦，时间不足可降级；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P2 优先级功能（日历视图、报表导出）可延后。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577840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0D47A1"/>
                </a:solidFill>
                <a:latin typeface="微软雅黑"/>
                <a:ea typeface="微软雅黑"/>
              </a:rPr>
              <a:t>四周进度安排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03120" y="5532120"/>
            <a:ext cx="2304288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12848" y="5577840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976D2"/>
                </a:solidFill>
                <a:latin typeface="微软雅黑"/>
                <a:ea typeface="微软雅黑"/>
              </a:rPr>
              <a:t>第一周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12848" y="578815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546E7A"/>
                </a:solidFill>
                <a:latin typeface="微软雅黑"/>
                <a:ea typeface="微软雅黑"/>
              </a:rPr>
              <a:t>需求分析、用例建模、竞品分析、开题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35424" y="5532120"/>
            <a:ext cx="2304288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45152" y="5577840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2E7D32"/>
                </a:solidFill>
                <a:latin typeface="微软雅黑"/>
                <a:ea typeface="微软雅黑"/>
              </a:rPr>
              <a:t>第二周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578815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546E7A"/>
                </a:solidFill>
                <a:latin typeface="微软雅黑"/>
                <a:ea typeface="微软雅黑"/>
              </a:rPr>
              <a:t>环境搭建、数据库、F1~F4 开发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67728" y="5532120"/>
            <a:ext cx="2304288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77456" y="5577840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E65100"/>
                </a:solidFill>
                <a:latin typeface="微软雅黑"/>
                <a:ea typeface="微软雅黑"/>
              </a:rPr>
              <a:t>第三周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77456" y="578815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546E7A"/>
                </a:solidFill>
                <a:latin typeface="微软雅黑"/>
                <a:ea typeface="微软雅黑"/>
              </a:rPr>
              <a:t>F5~F8 开发、前后端联调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00032" y="5532120"/>
            <a:ext cx="2304288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09760" y="5577840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6A1B9A"/>
                </a:solidFill>
                <a:latin typeface="微软雅黑"/>
                <a:ea typeface="微软雅黑"/>
              </a:rPr>
              <a:t>第四周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578815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546E7A"/>
                </a:solidFill>
                <a:latin typeface="微软雅黑"/>
                <a:ea typeface="微软雅黑"/>
              </a:rPr>
              <a:t>测试、缺陷修复、文档、答辩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D47A1"/>
                </a:solidFill>
                <a:latin typeface="微软雅黑"/>
                <a:ea typeface="微软雅黑"/>
              </a:rPr>
              <a:t>主要风险与应对措施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46E7A"/>
                </a:solidFill>
                <a:latin typeface="微软雅黑"/>
                <a:ea typeface="微软雅黑"/>
              </a:rPr>
              <a:t>标红的是需要重点管控的风险项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16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2700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335024"/>
            <a:ext cx="11183112" cy="603504"/>
          </a:xfrm>
          <a:prstGeom prst="roundRect">
            <a:avLst>
              <a:gd name="adj" fmla="val 14000"/>
            </a:avLst>
          </a:prstGeom>
          <a:solidFill>
            <a:srgbClr val="FFF5F5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49961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62828"/>
                </a:solidFill>
                <a:latin typeface="微软雅黑"/>
                <a:ea typeface="微软雅黑"/>
              </a:rPr>
              <a:t>R1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49961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263238"/>
                </a:solidFill>
                <a:latin typeface="微软雅黑"/>
                <a:ea typeface="微软雅黑"/>
              </a:rPr>
              <a:t>预约并发冲突导致数据错乱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50876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46E7A"/>
                </a:solidFill>
                <a:latin typeface="微软雅黑"/>
                <a:ea typeface="微软雅黑"/>
              </a:rPr>
              <a:t>可能性 高 · 影响 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417320"/>
            <a:ext cx="61722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Redis 分布式锁 + 时间区间查询 + 索引三层防护；编写 100 线程并发测试验证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07107"/>
            <a:ext cx="11183112" cy="603504"/>
          </a:xfrm>
          <a:prstGeom prst="roundRect">
            <a:avLst>
              <a:gd name="adj" fmla="val 14000"/>
            </a:avLst>
          </a:prstGeom>
          <a:solidFill>
            <a:srgbClr val="FFF5F5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2171699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62828"/>
                </a:solidFill>
                <a:latin typeface="微软雅黑"/>
                <a:ea typeface="微软雅黑"/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2171699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263238"/>
                </a:solidFill>
                <a:latin typeface="微软雅黑"/>
                <a:ea typeface="微软雅黑"/>
              </a:rPr>
              <a:t>时段模型复杂导致需求膨胀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180843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46E7A"/>
                </a:solidFill>
                <a:latin typeface="微软雅黑"/>
                <a:ea typeface="微软雅黑"/>
              </a:rPr>
              <a:t>可能性 高 · 影响 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89403"/>
            <a:ext cx="61722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第一周就固化时段数据模型；课程占用只做导入和展示，不做可视化排课编辑器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679191"/>
            <a:ext cx="11183112" cy="603504"/>
          </a:xfrm>
          <a:prstGeom prst="roundRect">
            <a:avLst>
              <a:gd name="adj" fmla="val 14000"/>
            </a:avLst>
          </a:prstGeom>
          <a:solidFill>
            <a:srgbClr val="FFF5F5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2843783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62828"/>
                </a:solidFill>
                <a:latin typeface="微软雅黑"/>
                <a:ea typeface="微软雅黑"/>
              </a:rPr>
              <a:t>R6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2843783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263238"/>
                </a:solidFill>
                <a:latin typeface="微软雅黑"/>
                <a:ea typeface="微软雅黑"/>
              </a:rPr>
              <a:t>UML 图必须手工绘制（课程要求）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852927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46E7A"/>
                </a:solidFill>
                <a:latin typeface="微软雅黑"/>
                <a:ea typeface="微软雅黑"/>
              </a:rPr>
              <a:t>可能性 中 · 影响 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761487"/>
            <a:ext cx="61722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用 draw.io 人工绘制并保留 .drawio 原始工程文件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351276"/>
            <a:ext cx="11183112" cy="603504"/>
          </a:xfrm>
          <a:prstGeom prst="roundRect">
            <a:avLst>
              <a:gd name="adj" fmla="val 14000"/>
            </a:avLst>
          </a:prstGeom>
          <a:solidFill>
            <a:srgbClr val="FFF5F5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3515868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62828"/>
                </a:solidFill>
                <a:latin typeface="微软雅黑"/>
                <a:ea typeface="微软雅黑"/>
              </a:rPr>
              <a:t>R10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351586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263238"/>
                </a:solidFill>
                <a:latin typeface="微软雅黑"/>
                <a:ea typeface="微软雅黑"/>
              </a:rPr>
              <a:t>演示现场环境故障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52501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46E7A"/>
                </a:solidFill>
                <a:latin typeface="微软雅黑"/>
                <a:ea typeface="微软雅黑"/>
              </a:rPr>
              <a:t>可能性 中 · 影响 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3433572"/>
            <a:ext cx="61722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提前一天在演示机器上验证部署；准备预置数据；关键流程录屏备份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023360"/>
            <a:ext cx="11183112" cy="603504"/>
          </a:xfrm>
          <a:prstGeom prst="roundRect">
            <a:avLst>
              <a:gd name="adj" fmla="val 14000"/>
            </a:avLst>
          </a:prstGeom>
          <a:solidFill>
            <a:srgbClr val="F5F7FA"/>
          </a:solidFill>
          <a:ln w="9525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4187952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65100"/>
                </a:solidFill>
                <a:latin typeface="微软雅黑"/>
                <a:ea typeface="微软雅黑"/>
              </a:rPr>
              <a:t>R3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8" y="418795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263238"/>
                </a:solidFill>
                <a:latin typeface="微软雅黑"/>
                <a:ea typeface="微软雅黑"/>
              </a:rPr>
              <a:t>Python 模块历史数据不足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197096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46E7A"/>
                </a:solidFill>
                <a:latin typeface="微软雅黑"/>
                <a:ea typeface="微软雅黑"/>
              </a:rPr>
              <a:t>可能性 高 · 影响 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4105656"/>
            <a:ext cx="61722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设计冷启动降级方案，退化为历史均值阈值预警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695444"/>
            <a:ext cx="11183112" cy="603504"/>
          </a:xfrm>
          <a:prstGeom prst="roundRect">
            <a:avLst>
              <a:gd name="adj" fmla="val 14000"/>
            </a:avLst>
          </a:prstGeom>
          <a:solidFill>
            <a:srgbClr val="F5F7FA"/>
          </a:solidFill>
          <a:ln w="9525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" y="486003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65100"/>
                </a:solidFill>
                <a:latin typeface="微软雅黑"/>
                <a:ea typeface="微软雅黑"/>
              </a:rPr>
              <a:t>R4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7008" y="486003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263238"/>
                </a:solidFill>
                <a:latin typeface="微软雅黑"/>
                <a:ea typeface="微软雅黑"/>
              </a:rPr>
              <a:t>4 人协作代码冲突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486918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46E7A"/>
                </a:solidFill>
                <a:latin typeface="微软雅黑"/>
                <a:ea typeface="微软雅黑"/>
              </a:rPr>
              <a:t>可能性 中 · 影响 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4777740"/>
            <a:ext cx="61722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统一 Git 分支规范，接口先行，每日同步进度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367528"/>
            <a:ext cx="11183112" cy="603504"/>
          </a:xfrm>
          <a:prstGeom prst="roundRect">
            <a:avLst>
              <a:gd name="adj" fmla="val 14000"/>
            </a:avLst>
          </a:prstGeom>
          <a:solidFill>
            <a:srgbClr val="F5F7FA"/>
          </a:solidFill>
          <a:ln w="9525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" y="5532120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65100"/>
                </a:solidFill>
                <a:latin typeface="微软雅黑"/>
                <a:ea typeface="微软雅黑"/>
              </a:rPr>
              <a:t>R5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07008" y="55321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263238"/>
                </a:solidFill>
                <a:latin typeface="微软雅黑"/>
                <a:ea typeface="微软雅黑"/>
              </a:rPr>
              <a:t>第一周文档工作量集中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0" y="5541264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546E7A"/>
                </a:solidFill>
                <a:latin typeface="微软雅黑"/>
                <a:ea typeface="微软雅黑"/>
              </a:rPr>
              <a:t>可能性 高 · 影响 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5449824"/>
            <a:ext cx="61722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内部分工到人，竞品调研与文档撰写并行推进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053328"/>
            <a:ext cx="11183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重点管控：R1 并发数据正确性（技术底线）、R2 需求范围控制、R6 课程合规性（纪律底线）、R10 演示可靠性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47472"/>
            <a:ext cx="100584" cy="475488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10896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500" b="1">
                <a:solidFill>
                  <a:srgbClr val="0D47A1"/>
                </a:solidFill>
                <a:latin typeface="微软雅黑"/>
                <a:ea typeface="微软雅黑"/>
              </a:rPr>
              <a:t>第二周工作安排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863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546E7A"/>
                </a:solidFill>
                <a:latin typeface="微软雅黑"/>
                <a:ea typeface="微软雅黑"/>
              </a:rPr>
              <a:t>第一周收尾 + 第二周开发计划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46E7A"/>
                </a:solidFill>
                <a:latin typeface="微软雅黑"/>
                <a:ea typeface="微软雅黑"/>
              </a:rPr>
              <a:t>17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2700">
            <a:solidFill>
              <a:srgbClr val="CFD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298448"/>
            <a:ext cx="5394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D47A1"/>
                </a:solidFill>
                <a:latin typeface="微软雅黑"/>
                <a:ea typeface="微软雅黑"/>
              </a:rPr>
              <a:t>一、第一周剩余事项（周五 24:00 前）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5394960" cy="3840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" y="1746504"/>
            <a:ext cx="146304" cy="1463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700784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确认选题，完成 4 人组队与分工到人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84832"/>
            <a:ext cx="5394960" cy="3840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" y="2203704"/>
            <a:ext cx="146304" cy="1463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157984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建立公开 Git 仓库，划分「开发/」与「文档/」目录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42032"/>
            <a:ext cx="5394960" cy="3840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" y="2660904"/>
            <a:ext cx="146304" cy="1463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615184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实测 4 类竞品并截图，形成功能对比矩阵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999232"/>
            <a:ext cx="5394960" cy="3840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" y="3118104"/>
            <a:ext cx="146304" cy="1463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072384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访谈 1~2 位实验室管理员，固化需求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456432"/>
            <a:ext cx="5394960" cy="3840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" y="3575304"/>
            <a:ext cx="146304" cy="1463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529584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用 draw.io 完成 4 张用例图并导出 PNG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13632"/>
            <a:ext cx="5394960" cy="3840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" y="4032504"/>
            <a:ext cx="146304" cy="1463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986784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完成需求分析报告（文档模板1）全部 7 个章节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370832"/>
            <a:ext cx="5394960" cy="3840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" y="4489704"/>
            <a:ext cx="146304" cy="1463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443984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撰写团队周工作总结（文档模板2），含 AI 使用说明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828032"/>
            <a:ext cx="5394960" cy="3840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" y="4946904"/>
            <a:ext cx="146304" cy="1463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901184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制作并定稿开题汇报 PPT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285232"/>
            <a:ext cx="5394960" cy="3840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F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" y="5404104"/>
            <a:ext cx="146304" cy="146304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358384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263238"/>
                </a:solidFill>
                <a:latin typeface="微软雅黑"/>
                <a:ea typeface="微软雅黑"/>
              </a:rPr>
              <a:t>所有制品由对应完成人本人上传仓库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1298448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D47A1"/>
                </a:solidFill>
                <a:latin typeface="微软雅黑"/>
                <a:ea typeface="微软雅黑"/>
              </a:rPr>
              <a:t>二、第二周开发计划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1627632"/>
            <a:ext cx="5330952" cy="1298448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1270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65392" y="175564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976D2"/>
                </a:solidFill>
                <a:latin typeface="微软雅黑"/>
                <a:ea typeface="微软雅黑"/>
              </a:rPr>
              <a:t>周一 ~ 周二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1755648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63238"/>
                </a:solidFill>
                <a:latin typeface="微软雅黑"/>
                <a:ea typeface="微软雅黑"/>
              </a:rPr>
              <a:t>环境搭建与数据库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2103120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· 搭建 Spring Boot + Vue 工程骨架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392" y="2359152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· 执行建表脚本，初始化测试数据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5392" y="2615184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· 约定 REST 接口文档（接口先行）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3072384"/>
            <a:ext cx="5330952" cy="1298448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65392" y="320040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2E7D32"/>
                </a:solidFill>
                <a:latin typeface="微软雅黑"/>
                <a:ea typeface="微软雅黑"/>
              </a:rPr>
              <a:t>周三 ~ 周四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3200400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63238"/>
                </a:solidFill>
                <a:latin typeface="微软雅黑"/>
                <a:ea typeface="微软雅黑"/>
              </a:rPr>
              <a:t>F1、F2 开发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65392" y="3547872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· 用户登录与 RBAC 权限（F1 全部）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65392" y="3803904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· 设备台账增删改查（F2 全部）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65392" y="4059936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· 二维码生成与扫码查询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55080" y="4517136"/>
            <a:ext cx="5330952" cy="129844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65392" y="464515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E65100"/>
                </a:solidFill>
                <a:latin typeface="微软雅黑"/>
                <a:ea typeface="微软雅黑"/>
              </a:rPr>
              <a:t>周五 ~ 周日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4645152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63238"/>
                </a:solidFill>
                <a:latin typeface="微软雅黑"/>
                <a:ea typeface="微软雅黑"/>
              </a:rPr>
              <a:t>F3 核心模块启动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65392" y="4992624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· 预约表单与可用时段查询（F3-1、F3-3）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65392" y="5248656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· ★ 时段冲突检测与分布式锁（F3-2）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65392" y="5504688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263238"/>
                </a:solidFill>
                <a:latin typeface="微软雅黑"/>
                <a:ea typeface="微软雅黑"/>
              </a:rPr>
              <a:t>· 编写并发测试脚本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" y="5870448"/>
            <a:ext cx="11183112" cy="475488"/>
          </a:xfrm>
          <a:prstGeom prst="roundRect">
            <a:avLst>
              <a:gd name="adj" fmla="val 2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02920" y="5971032"/>
            <a:ext cx="1118311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2E7D32"/>
                </a:solidFill>
                <a:latin typeface="微软雅黑"/>
                <a:ea typeface="微软雅黑"/>
              </a:rPr>
              <a:t>第二周关键里程碑：跑通「提交预约 → 冲突检测 → 审核通过 → 签到 → 签退」主链路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4206240"/>
            <a:ext cx="3840480" cy="3840480"/>
          </a:xfrm>
          <a:prstGeom prst="ellipse">
            <a:avLst/>
          </a:prstGeom>
          <a:solidFill>
            <a:srgbClr val="15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0" y="-1463040"/>
            <a:ext cx="3657600" cy="3657600"/>
          </a:xfrm>
          <a:prstGeom prst="ellipse">
            <a:avLst/>
          </a:prstGeom>
          <a:solidFill>
            <a:srgbClr val="15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恳请老师指导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2606040"/>
            <a:ext cx="3108960" cy="0"/>
          </a:xfrm>
          <a:prstGeom prst="line">
            <a:avLst/>
          </a:prstGeom>
          <a:ln w="3175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288036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600" b="0">
                <a:solidFill>
                  <a:srgbClr val="BBDEFB"/>
                </a:solidFill>
                <a:latin typeface="微软雅黑"/>
                <a:ea typeface="微软雅黑"/>
              </a:rPr>
              <a:t>智汇实验室 LabHub —— 高校实验室仪器设备预约与运维管理平台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600" b="0">
                <a:solidFill>
                  <a:srgbClr val="BBDEFB"/>
                </a:solidFill>
                <a:latin typeface="微软雅黑"/>
                <a:ea typeface="微软雅黑"/>
              </a:rPr>
              <a:t>把管理动作从「事后登记」前移到「事前调度」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60520"/>
            <a:ext cx="2331720" cy="658368"/>
          </a:xfrm>
          <a:prstGeom prst="roundRect">
            <a:avLst>
              <a:gd name="adj" fmla="val 18000"/>
            </a:avLst>
          </a:prstGeom>
          <a:solidFill>
            <a:srgbClr val="15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4315968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课题意义与竞品分析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4160520"/>
            <a:ext cx="2331720" cy="658368"/>
          </a:xfrm>
          <a:prstGeom prst="roundRect">
            <a:avLst>
              <a:gd name="adj" fmla="val 18000"/>
            </a:avLst>
          </a:prstGeom>
          <a:solidFill>
            <a:srgbClr val="15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4315968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需求详细介绍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160520"/>
            <a:ext cx="2331720" cy="658368"/>
          </a:xfrm>
          <a:prstGeom prst="roundRect">
            <a:avLst>
              <a:gd name="adj" fmla="val 18000"/>
            </a:avLst>
          </a:prstGeom>
          <a:solidFill>
            <a:srgbClr val="15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4315968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技术选型与可行性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4160520"/>
            <a:ext cx="2331720" cy="658368"/>
          </a:xfrm>
          <a:prstGeom prst="roundRect">
            <a:avLst>
              <a:gd name="adj" fmla="val 18000"/>
            </a:avLst>
          </a:prstGeom>
          <a:solidFill>
            <a:srgbClr val="155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23960" y="4315968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第二周工作安排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5780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90CAF9"/>
                </a:solidFill>
                <a:latin typeface="微软雅黑"/>
                <a:ea typeface="微软雅黑"/>
              </a:rPr>
              <a:t>以上四项已在本汇报中逐一说明，详细内容见随附文档。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97880"/>
            <a:ext cx="10058400" cy="195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 b="0" dirty="0" err="1">
                <a:solidFill>
                  <a:srgbClr val="90CAF9"/>
                </a:solidFill>
                <a:latin typeface="微软雅黑"/>
                <a:ea typeface="微软雅黑"/>
              </a:rPr>
              <a:t>汇报人</a:t>
            </a:r>
            <a:r>
              <a:rPr sz="1200" b="0" dirty="0">
                <a:solidFill>
                  <a:srgbClr val="90CAF9"/>
                </a:solidFill>
                <a:latin typeface="微软雅黑"/>
                <a:ea typeface="微软雅黑"/>
              </a:rPr>
              <a:t>：</a:t>
            </a:r>
            <a:r>
              <a:rPr lang="zh-CN" altLang="en-US" sz="1200" dirty="0">
                <a:solidFill>
                  <a:srgbClr val="90CAF9"/>
                </a:solidFill>
                <a:latin typeface="微软雅黑"/>
                <a:ea typeface="微软雅黑"/>
              </a:rPr>
              <a:t>张龙飞  黄子安  杭咏毅  周鹏波　</a:t>
            </a:r>
            <a:r>
              <a:rPr sz="1200" b="0" dirty="0">
                <a:solidFill>
                  <a:srgbClr val="90CAF9"/>
                </a:solidFill>
                <a:latin typeface="微软雅黑"/>
                <a:ea typeface="微软雅黑"/>
              </a:rPr>
              <a:t>　｜　</a:t>
            </a:r>
            <a:r>
              <a:rPr sz="1200" b="0" dirty="0" err="1">
                <a:solidFill>
                  <a:srgbClr val="90CAF9"/>
                </a:solidFill>
                <a:latin typeface="微软雅黑"/>
                <a:ea typeface="微软雅黑"/>
              </a:rPr>
              <a:t>团队成员</a:t>
            </a:r>
            <a:r>
              <a:rPr sz="1200" b="0" dirty="0">
                <a:solidFill>
                  <a:srgbClr val="90CAF9"/>
                </a:solidFill>
                <a:latin typeface="微软雅黑"/>
                <a:ea typeface="微软雅黑"/>
              </a:rPr>
              <a:t>：</a:t>
            </a:r>
            <a:r>
              <a:rPr lang="zh-CN" altLang="en-US" sz="1200" dirty="0">
                <a:solidFill>
                  <a:srgbClr val="90CAF9"/>
                </a:solidFill>
                <a:latin typeface="微软雅黑"/>
                <a:ea typeface="微软雅黑"/>
              </a:rPr>
              <a:t>张龙飞  黄子安  杭咏毅  周鹏波　</a:t>
            </a:r>
            <a:r>
              <a:rPr sz="1200" b="0" dirty="0">
                <a:solidFill>
                  <a:srgbClr val="90CAF9"/>
                </a:solidFill>
                <a:latin typeface="微软雅黑"/>
                <a:ea typeface="微软雅黑"/>
              </a:rPr>
              <a:t>　｜　2026 年 9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1884</Words>
  <Application>Microsoft Office PowerPoint</Application>
  <PresentationFormat>宽屏</PresentationFormat>
  <Paragraphs>553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LEGION</dc:creator>
  <cp:keywords/>
  <dc:description>generated using python-pptx</dc:description>
  <cp:lastModifiedBy>Butterfly Bloody</cp:lastModifiedBy>
  <cp:revision>2</cp:revision>
  <dcterms:created xsi:type="dcterms:W3CDTF">2013-01-27T09:14:16Z</dcterms:created>
  <dcterms:modified xsi:type="dcterms:W3CDTF">2026-09-11T16:06:01Z</dcterms:modified>
  <cp:category/>
</cp:coreProperties>
</file>