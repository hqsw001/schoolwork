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302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05840" y="4114800"/>
            <a:ext cx="3840480" cy="3840480"/>
          </a:xfrm>
          <a:prstGeom prst="ellipse">
            <a:avLst/>
          </a:prstGeom>
          <a:solidFill>
            <a:srgbClr val="113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49840" y="-1371600"/>
            <a:ext cx="3657600" cy="3657600"/>
          </a:xfrm>
          <a:prstGeom prst="ellipse">
            <a:avLst/>
          </a:prstGeom>
          <a:solidFill>
            <a:srgbClr val="113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0">
                <a:solidFill>
                  <a:srgbClr val="90CAF9"/>
                </a:solidFill>
                <a:latin typeface="微软雅黑"/>
              </a:rPr>
              <a:t>软件课程设计（2 学分）· 第一周开题汇报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98448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4600" b="1">
                <a:solidFill>
                  <a:srgbClr val="FFFFFF"/>
                </a:solidFill>
                <a:latin typeface="微软雅黑"/>
              </a:rPr>
              <a:t>剪贴板Pro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3327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200" b="1">
                <a:solidFill>
                  <a:srgbClr val="BBDEFB"/>
                </a:solidFill>
                <a:latin typeface="微软雅黑"/>
              </a:rPr>
              <a:t>单机剪贴板管理器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834640"/>
            <a:ext cx="3108960" cy="32004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035808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1500" b="0">
                <a:solidFill>
                  <a:srgbClr val="BBDEFB"/>
                </a:solidFill>
                <a:latin typeface="微软雅黑"/>
              </a:rPr>
              <a:t>把 Windows 剪贴板从「一个临时缓冲区」，改造成「一个本地优先、可检索、可组织的碎片信息库」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1500" b="0">
                <a:solidFill>
                  <a:srgbClr val="BBDEFB"/>
                </a:solidFill>
                <a:latin typeface="微软雅黑"/>
              </a:rPr>
              <a:t>纯单机运行 · 数据不出本机 · 零配置即可用 · 47 个功能点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24528"/>
            <a:ext cx="2331720" cy="658368"/>
          </a:xfrm>
          <a:prstGeom prst="roundRect">
            <a:avLst/>
          </a:prstGeom>
          <a:solidFill>
            <a:srgbClr val="15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37997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0">
                <a:solidFill>
                  <a:srgbClr val="FFFFFF"/>
                </a:solidFill>
                <a:latin typeface="微软雅黑"/>
              </a:rPr>
              <a:t>课题意义与竞品分析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4224528"/>
            <a:ext cx="2331720" cy="658368"/>
          </a:xfrm>
          <a:prstGeom prst="roundRect">
            <a:avLst/>
          </a:prstGeom>
          <a:solidFill>
            <a:srgbClr val="15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80" y="437997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0">
                <a:solidFill>
                  <a:srgbClr val="FFFFFF"/>
                </a:solidFill>
                <a:latin typeface="微软雅黑"/>
              </a:rPr>
              <a:t>需求详细介绍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224528"/>
            <a:ext cx="2331720" cy="658368"/>
          </a:xfrm>
          <a:prstGeom prst="roundRect">
            <a:avLst/>
          </a:prstGeom>
          <a:solidFill>
            <a:srgbClr val="15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437997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0">
                <a:solidFill>
                  <a:srgbClr val="FFFFFF"/>
                </a:solidFill>
                <a:latin typeface="微软雅黑"/>
              </a:rPr>
              <a:t>技术选型与可行性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4224528"/>
            <a:ext cx="2331720" cy="658368"/>
          </a:xfrm>
          <a:prstGeom prst="roundRect">
            <a:avLst/>
          </a:prstGeom>
          <a:solidFill>
            <a:srgbClr val="15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23960" y="437997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0">
                <a:solidFill>
                  <a:srgbClr val="FFFFFF"/>
                </a:solidFill>
                <a:latin typeface="微软雅黑"/>
              </a:rPr>
              <a:t>第二周工作安排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30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90CAF9"/>
                </a:solidFill>
                <a:latin typeface="微软雅黑"/>
              </a:rPr>
              <a:t>以上四项将在本汇报中逐一说明，详细内容见随附文档。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97880"/>
            <a:ext cx="100584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50" b="0" dirty="0" err="1">
                <a:solidFill>
                  <a:srgbClr val="90CAF9"/>
                </a:solidFill>
                <a:latin typeface="微软雅黑"/>
              </a:rPr>
              <a:t>汇报人</a:t>
            </a:r>
            <a:r>
              <a:rPr altLang="zh-CN" sz="1150" b="0" dirty="0">
                <a:solidFill>
                  <a:srgbClr val="90CAF9"/>
                </a:solidFill>
                <a:latin typeface="微软雅黑"/>
              </a:rPr>
              <a:t>：</a:t>
            </a:r>
            <a:r>
              <a:rPr lang="zh-CN" altLang="en-US" sz="1150" b="0" dirty="0">
                <a:solidFill>
                  <a:srgbClr val="90CAF9"/>
                </a:solidFill>
                <a:latin typeface="微软雅黑"/>
              </a:rPr>
              <a:t>张龙飞</a:t>
            </a:r>
            <a:r>
              <a:rPr altLang="zh-CN" sz="1150" b="0" dirty="0">
                <a:solidFill>
                  <a:srgbClr val="90CAF9"/>
                </a:solidFill>
                <a:latin typeface="微软雅黑"/>
              </a:rPr>
              <a:t>　｜　</a:t>
            </a:r>
            <a:r>
              <a:rPr altLang="zh-CN" sz="1150" b="0" dirty="0" err="1">
                <a:solidFill>
                  <a:srgbClr val="90CAF9"/>
                </a:solidFill>
                <a:latin typeface="微软雅黑"/>
              </a:rPr>
              <a:t>团队成员</a:t>
            </a:r>
            <a:r>
              <a:rPr altLang="zh-CN" sz="1150" b="0" dirty="0">
                <a:solidFill>
                  <a:srgbClr val="90CAF9"/>
                </a:solidFill>
                <a:latin typeface="微软雅黑"/>
              </a:rPr>
              <a:t>：</a:t>
            </a:r>
            <a:r>
              <a:rPr lang="zh-CN" altLang="en-US" sz="1150" b="0" dirty="0">
                <a:solidFill>
                  <a:srgbClr val="90CAF9"/>
                </a:solidFill>
                <a:latin typeface="微软雅黑"/>
              </a:rPr>
              <a:t>杭咏毅  黄子安  周鹏波</a:t>
            </a:r>
            <a:r>
              <a:rPr altLang="zh-CN" sz="1150" b="0" dirty="0">
                <a:solidFill>
                  <a:srgbClr val="90CAF9"/>
                </a:solidFill>
                <a:latin typeface="微软雅黑"/>
              </a:rPr>
              <a:t>　｜　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>
                <a:solidFill>
                  <a:srgbClr val="0D47A1"/>
                </a:solidFill>
                <a:latin typeface="微软雅黑"/>
              </a:rPr>
              <a:t>领域痛点：剪贴板是最高频、最被忽视的系统能力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546E7A"/>
                </a:solidFill>
                <a:latin typeface="微软雅黑"/>
              </a:rPr>
              <a:t>每天都在做「复制 → 切换 → 粘贴」的循环，但单次复制只承载一份内容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19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9EADB5"/>
                </a:solidFill>
                <a:latin typeface="微软雅黑"/>
              </a:rPr>
              <a:t>剪贴板Pro ｜ 软件课程设计 第一周开题汇报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0D47A1"/>
                </a:solidFill>
                <a:latin typeface="微软雅黑"/>
              </a:rPr>
              <a:t>一、剪贴板被使用的真实频次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5394960" cy="960120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755648"/>
            <a:ext cx="4983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150" b="0">
                <a:solidFill>
                  <a:srgbClr val="263238"/>
                </a:solidFill>
                <a:latin typeface="微软雅黑"/>
              </a:rPr>
              <a:t>写报告、写代码、整理资料时，复制粘贴是最高频的操作之一。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150" b="0">
                <a:solidFill>
                  <a:srgbClr val="263238"/>
                </a:solidFill>
                <a:latin typeface="微软雅黑"/>
              </a:rPr>
              <a:t>但系统剪贴板一次只记住一份内容，第二次复制就覆盖了第一次。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0D47A1"/>
                </a:solidFill>
                <a:latin typeface="微软雅黑"/>
              </a:rPr>
              <a:t>二、从「有没有」到「好不好用」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90672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3218688"/>
            <a:ext cx="49834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100" b="0">
                <a:solidFill>
                  <a:srgbClr val="263238"/>
                </a:solidFill>
                <a:latin typeface="微软雅黑"/>
              </a:rPr>
              <a:t>2018 年 Windows 10 1809 内置 Win+V 剪贴板历史，解决了「有没有」。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100" b="0">
                <a:solidFill>
                  <a:srgbClr val="263238"/>
                </a:solidFill>
                <a:latin typeface="微软雅黑"/>
              </a:rPr>
              <a:t>但它没有解决「好不好用」：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100" b="0">
                <a:solidFill>
                  <a:srgbClr val="263238"/>
                </a:solidFill>
                <a:latin typeface="微软雅黑"/>
              </a:rPr>
              <a:t>· 约 25 条固定上限，用户不可调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100" b="0">
                <a:solidFill>
                  <a:srgbClr val="263238"/>
                </a:solidFill>
                <a:latin typeface="微软雅黑"/>
              </a:rPr>
              <a:t>· 无检索、无格式分类、无去重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100" b="0">
                <a:solidFill>
                  <a:srgbClr val="263238"/>
                </a:solidFill>
                <a:latin typeface="微软雅黑"/>
              </a:rPr>
              <a:t>· 无敏感信息保护，共用电脑与投屏有风险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100" b="0">
                <a:solidFill>
                  <a:srgbClr val="263238"/>
                </a:solidFill>
                <a:latin typeface="微软雅黑"/>
              </a:rPr>
              <a:t>· 重启、注销、清理系统后历史可能丢失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280160"/>
            <a:ext cx="5330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0D47A1"/>
                </a:solidFill>
                <a:latin typeface="微软雅黑"/>
              </a:rPr>
              <a:t>三、Win+V 的能力边界（逐项核验）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627632"/>
            <a:ext cx="5330952" cy="1847088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5392" y="1755648"/>
            <a:ext cx="4937760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· 约 25 条固定上限，用户不可调整，超出后最早的记录被丢弃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· 无任何检索能力，只能按时间倒序一条条翻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· 文本、富文本、图片混在同一列表，不能按类型筛选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· 相同内容重复复制会生成多条独立记录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· 不支持标签、分组、备注，只能单条置顶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· 无敏感信息识别，身份证号、手机号明文显示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· 外观完全跟随系统，不可换主题、不可调密度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602736"/>
            <a:ext cx="5330952" cy="932688"/>
          </a:xfrm>
          <a:prstGeom prst="roundRect">
            <a:avLst>
              <a:gd name="adj" fmla="val 6000"/>
            </a:avLst>
          </a:prstGeom>
          <a:solidFill>
            <a:srgbClr val="F3E5F5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3730752"/>
            <a:ext cx="4937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这些不足不是「还不够好」，而是「刚好卡在每天都会用到的位置上」：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高频使用 + 能力极薄 = 明确的改进空间。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754880"/>
            <a:ext cx="11183112" cy="1115568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4882896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2E7D32"/>
                </a:solidFill>
                <a:latin typeface="微软雅黑"/>
              </a:rPr>
              <a:t>结论：唯一需要超越的对手，就是每人电脑里已经有的那个 Win+V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212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150" b="0">
                <a:solidFill>
                  <a:srgbClr val="263238"/>
                </a:solidFill>
                <a:latin typeface="微软雅黑"/>
              </a:rPr>
              <a:t>系统剪贴板胜在零安装、零配置、与系统深度融合，这是它难以替代的优势，我们完整保留。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150" b="0">
                <a:solidFill>
                  <a:srgbClr val="263238"/>
                </a:solidFill>
                <a:latin typeface="微软雅黑"/>
              </a:rPr>
              <a:t>它缺的是「把历史当成资料来用」的能力：可检索、可组织、可控制、可信任、好看。本项目补的就是这一半。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>
                <a:solidFill>
                  <a:srgbClr val="0D47A1"/>
                </a:solidFill>
                <a:latin typeface="微软雅黑"/>
              </a:rPr>
              <a:t>选题定位：为什么选它，以及它不是什么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546E7A"/>
                </a:solidFill>
                <a:latin typeface="微软雅黑"/>
              </a:rPr>
              <a:t>自选课题要求新颖、有价值、工作量饱满——先把边界说清楚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19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9EADB5"/>
                </a:solidFill>
                <a:latin typeface="微软雅黑"/>
              </a:rPr>
              <a:t>剪贴板Pro ｜ 软件课程设计 第一周开题汇报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0D47A1"/>
                </a:solidFill>
                <a:latin typeface="微软雅黑"/>
              </a:rPr>
              <a:t>一、选题的四条理由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53949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627632"/>
            <a:ext cx="68580" cy="100584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1">
                <a:solidFill>
                  <a:srgbClr val="1976D2"/>
                </a:solidFill>
                <a:latin typeface="微软雅黑"/>
              </a:rPr>
              <a:t>需求真实且高频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66543"/>
            <a:ext cx="4983480" cy="190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1100" dirty="0">
                <a:solidFill>
                  <a:srgbClr val="263238"/>
                </a:solidFill>
                <a:latin typeface="微软雅黑"/>
              </a:rPr>
              <a:t>每个人</a:t>
            </a:r>
            <a:r>
              <a:rPr altLang="zh-CN" sz="1100" b="0" dirty="0" err="1">
                <a:solidFill>
                  <a:srgbClr val="263238"/>
                </a:solidFill>
                <a:latin typeface="微软雅黑"/>
              </a:rPr>
              <a:t>每天</a:t>
            </a:r>
            <a:r>
              <a:rPr lang="zh-CN" altLang="en-US" sz="1100" b="0" dirty="0">
                <a:solidFill>
                  <a:srgbClr val="263238"/>
                </a:solidFill>
                <a:latin typeface="微软雅黑"/>
              </a:rPr>
              <a:t>都可以</a:t>
            </a:r>
            <a:r>
              <a:rPr altLang="zh-CN" sz="1100" b="0" dirty="0" err="1">
                <a:solidFill>
                  <a:srgbClr val="263238"/>
                </a:solidFill>
                <a:latin typeface="微软雅黑"/>
              </a:rPr>
              <a:t>用，自己就是用户</a:t>
            </a:r>
            <a:endParaRPr altLang="zh-CN" sz="1100" b="0" dirty="0">
              <a:solidFill>
                <a:srgbClr val="263238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2761488"/>
            <a:ext cx="53949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761488"/>
            <a:ext cx="68580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889504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1">
                <a:solidFill>
                  <a:srgbClr val="2E7D32"/>
                </a:solidFill>
                <a:latin typeface="微软雅黑"/>
              </a:rPr>
              <a:t>竞品就在手边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1100" b="0">
                <a:solidFill>
                  <a:srgbClr val="263238"/>
                </a:solidFill>
                <a:latin typeface="微软雅黑"/>
              </a:rPr>
              <a:t>竞品是操作系统自带功能，同一台机器即可现场对比，证据链完全可复现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95344"/>
            <a:ext cx="53949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895344"/>
            <a:ext cx="68580" cy="100584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023359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1">
                <a:solidFill>
                  <a:srgbClr val="E65100"/>
                </a:solidFill>
                <a:latin typeface="微软雅黑"/>
              </a:rPr>
              <a:t>不是 CRUD 网站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34256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1100" b="0">
                <a:solidFill>
                  <a:srgbClr val="263238"/>
                </a:solidFill>
                <a:latin typeface="微软雅黑"/>
              </a:rPr>
              <a:t>要与系统剪贴板机制打交道：多格式竞争、回环粘贴、并发写入、列表性能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29200"/>
            <a:ext cx="53949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5029200"/>
            <a:ext cx="68580" cy="10058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157216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1">
                <a:solidFill>
                  <a:srgbClr val="6A1B9A"/>
                </a:solidFill>
                <a:latin typeface="微软雅黑"/>
              </a:rPr>
              <a:t>范围可自主收口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68112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1100" b="0">
                <a:solidFill>
                  <a:srgbClr val="263238"/>
                </a:solidFill>
                <a:latin typeface="微软雅黑"/>
              </a:rPr>
              <a:t>砍掉全部联网能力，降低复杂度与演示风险，并让「数据不出本机」成为卖点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280160"/>
            <a:ext cx="533095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 dirty="0" err="1">
                <a:solidFill>
                  <a:srgbClr val="0D47A1"/>
                </a:solidFill>
                <a:latin typeface="微软雅黑"/>
              </a:rPr>
              <a:t>二、本期范围</a:t>
            </a:r>
            <a:r>
              <a:rPr altLang="zh-CN" sz="1300" b="1" dirty="0">
                <a:solidFill>
                  <a:srgbClr val="0D47A1"/>
                </a:solidFill>
                <a:latin typeface="微软雅黑"/>
              </a:rPr>
              <a:t>（</a:t>
            </a:r>
            <a:r>
              <a:rPr lang="zh-CN" altLang="en-US" sz="1300" b="1" dirty="0">
                <a:solidFill>
                  <a:srgbClr val="0D47A1"/>
                </a:solidFill>
                <a:latin typeface="微软雅黑"/>
              </a:rPr>
              <a:t>不</a:t>
            </a:r>
            <a:r>
              <a:rPr altLang="zh-CN" sz="1300" b="1" dirty="0" err="1">
                <a:solidFill>
                  <a:srgbClr val="0D47A1"/>
                </a:solidFill>
                <a:latin typeface="微软雅黑"/>
              </a:rPr>
              <a:t>明确的部分</a:t>
            </a:r>
            <a:r>
              <a:rPr altLang="zh-CN" sz="1300" b="1" dirty="0">
                <a:solidFill>
                  <a:srgbClr val="0D47A1"/>
                </a:solidFill>
                <a:latin typeface="微软雅黑"/>
              </a:rPr>
              <a:t>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627632"/>
            <a:ext cx="5330952" cy="1572768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5392" y="1755648"/>
            <a:ext cx="4937760" cy="1252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altLang="zh-CN" sz="1150" b="0" dirty="0">
                <a:solidFill>
                  <a:srgbClr val="263238"/>
                </a:solidFill>
                <a:latin typeface="微软雅黑"/>
              </a:rPr>
              <a:t> </a:t>
            </a:r>
            <a:r>
              <a:rPr altLang="zh-CN" sz="1150" b="0" dirty="0" err="1">
                <a:solidFill>
                  <a:srgbClr val="263238"/>
                </a:solidFill>
                <a:latin typeface="微软雅黑"/>
              </a:rPr>
              <a:t>跨设备同步（WebDAV</a:t>
            </a:r>
            <a:r>
              <a:rPr altLang="zh-CN" sz="1150" b="0" dirty="0">
                <a:solidFill>
                  <a:srgbClr val="263238"/>
                </a:solidFill>
                <a:latin typeface="微软雅黑"/>
              </a:rPr>
              <a:t> / MQTT）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altLang="zh-CN" sz="1150" b="0" dirty="0" err="1">
                <a:solidFill>
                  <a:srgbClr val="263238"/>
                </a:solidFill>
                <a:latin typeface="微软雅黑"/>
              </a:rPr>
              <a:t>局域网文件与内容传输</a:t>
            </a:r>
            <a:endParaRPr altLang="zh-CN" sz="1150" b="0" dirty="0">
              <a:solidFill>
                <a:srgbClr val="263238"/>
              </a:solidFill>
              <a:latin typeface="微软雅黑"/>
            </a:endParaRP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altLang="zh-CN" sz="1150" b="0" dirty="0" err="1">
                <a:solidFill>
                  <a:srgbClr val="263238"/>
                </a:solidFill>
                <a:latin typeface="微软雅黑"/>
              </a:rPr>
              <a:t>云端主题商店与账号体系</a:t>
            </a:r>
            <a:endParaRPr altLang="zh-CN" sz="1150" b="0" dirty="0">
              <a:solidFill>
                <a:srgbClr val="263238"/>
              </a:solidFill>
              <a:latin typeface="微软雅黑"/>
            </a:endParaRP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altLang="zh-CN" sz="1150" b="0" dirty="0">
                <a:solidFill>
                  <a:srgbClr val="263238"/>
                </a:solidFill>
                <a:latin typeface="微软雅黑"/>
              </a:rPr>
              <a:t>AI </a:t>
            </a:r>
            <a:r>
              <a:rPr altLang="zh-CN" sz="1150" b="0" dirty="0" err="1">
                <a:solidFill>
                  <a:srgbClr val="263238"/>
                </a:solidFill>
                <a:latin typeface="微软雅黑"/>
              </a:rPr>
              <a:t>助手与在线服务调用</a:t>
            </a:r>
            <a:endParaRPr altLang="zh-CN" sz="1150" b="0" dirty="0">
              <a:solidFill>
                <a:srgbClr val="263238"/>
              </a:solidFill>
              <a:latin typeface="微软雅黑"/>
            </a:endParaRP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altLang="zh-CN" sz="1150" b="0" dirty="0" err="1">
                <a:solidFill>
                  <a:srgbClr val="263238"/>
                </a:solidFill>
                <a:latin typeface="微软雅黑"/>
              </a:rPr>
              <a:t>手机端、浏览器扩展</a:t>
            </a:r>
            <a:endParaRPr altLang="zh-CN" sz="1150" b="0" dirty="0">
              <a:solidFill>
                <a:srgbClr val="263238"/>
              </a:solidFill>
              <a:latin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355080" y="3310128"/>
            <a:ext cx="5330952" cy="1792224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65392" y="3438144"/>
            <a:ext cx="4937760" cy="1572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100" b="0" dirty="0" err="1">
                <a:solidFill>
                  <a:srgbClr val="263238"/>
                </a:solidFill>
                <a:latin typeface="微软雅黑"/>
              </a:rPr>
              <a:t>取舍的三条理由</a:t>
            </a:r>
            <a:r>
              <a:rPr altLang="zh-CN" sz="1100" b="0" dirty="0">
                <a:solidFill>
                  <a:srgbClr val="263238"/>
                </a:solidFill>
                <a:latin typeface="微软雅黑"/>
              </a:rPr>
              <a:t>：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100" b="0" dirty="0">
                <a:solidFill>
                  <a:srgbClr val="263238"/>
                </a:solidFill>
                <a:latin typeface="微软雅黑"/>
              </a:rPr>
              <a:t>1. </a:t>
            </a:r>
            <a:r>
              <a:rPr altLang="zh-CN" sz="1100" b="0" dirty="0" err="1">
                <a:solidFill>
                  <a:srgbClr val="263238"/>
                </a:solidFill>
                <a:latin typeface="微软雅黑"/>
              </a:rPr>
              <a:t>第一周只有</a:t>
            </a:r>
            <a:r>
              <a:rPr altLang="zh-CN" sz="1100" b="0" dirty="0">
                <a:solidFill>
                  <a:srgbClr val="263238"/>
                </a:solidFill>
                <a:latin typeface="微软雅黑"/>
              </a:rPr>
              <a:t> 32 </a:t>
            </a:r>
            <a:r>
              <a:rPr altLang="zh-CN" sz="1100" b="0" dirty="0" err="1">
                <a:solidFill>
                  <a:srgbClr val="263238"/>
                </a:solidFill>
                <a:latin typeface="微软雅黑"/>
              </a:rPr>
              <a:t>学时，联网能力会显著抬高架构复杂度</a:t>
            </a:r>
            <a:r>
              <a:rPr altLang="zh-CN" sz="1100" b="0" dirty="0">
                <a:solidFill>
                  <a:srgbClr val="263238"/>
                </a:solidFill>
                <a:latin typeface="微软雅黑"/>
              </a:rPr>
              <a:t>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100" b="0" dirty="0">
                <a:solidFill>
                  <a:srgbClr val="263238"/>
                </a:solidFill>
                <a:latin typeface="微软雅黑"/>
              </a:rPr>
              <a:t>2. </a:t>
            </a:r>
            <a:r>
              <a:rPr altLang="zh-CN" sz="1100" b="0" dirty="0" err="1">
                <a:solidFill>
                  <a:srgbClr val="263238"/>
                </a:solidFill>
                <a:latin typeface="微软雅黑"/>
              </a:rPr>
              <a:t>这些能力依赖外部服务账号，答辩演示存在不可控风险</a:t>
            </a:r>
            <a:r>
              <a:rPr altLang="zh-CN" sz="1100" b="0" dirty="0">
                <a:solidFill>
                  <a:srgbClr val="263238"/>
                </a:solidFill>
                <a:latin typeface="微软雅黑"/>
              </a:rPr>
              <a:t>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100" b="0" dirty="0">
                <a:solidFill>
                  <a:srgbClr val="263238"/>
                </a:solidFill>
                <a:latin typeface="微软雅黑"/>
              </a:rPr>
              <a:t>3. </a:t>
            </a:r>
            <a:r>
              <a:rPr altLang="zh-CN" sz="1100" b="0" dirty="0" err="1">
                <a:solidFill>
                  <a:srgbClr val="263238"/>
                </a:solidFill>
                <a:latin typeface="微软雅黑"/>
              </a:rPr>
              <a:t>去掉联网不是功能缩水</a:t>
            </a:r>
            <a:r>
              <a:rPr altLang="zh-CN" sz="1100" b="0" dirty="0">
                <a:solidFill>
                  <a:srgbClr val="263238"/>
                </a:solidFill>
                <a:latin typeface="微软雅黑"/>
              </a:rPr>
              <a:t>——「</a:t>
            </a:r>
            <a:r>
              <a:rPr altLang="zh-CN" sz="1100" b="0" dirty="0" err="1">
                <a:solidFill>
                  <a:srgbClr val="263238"/>
                </a:solidFill>
                <a:latin typeface="微软雅黑"/>
              </a:rPr>
              <a:t>数据完全不出本机」本身就是</a:t>
            </a:r>
            <a:endParaRPr altLang="zh-CN" sz="1100" b="0" dirty="0">
              <a:solidFill>
                <a:srgbClr val="263238"/>
              </a:solidFill>
              <a:latin typeface="微软雅黑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100" b="0" dirty="0">
                <a:solidFill>
                  <a:srgbClr val="263238"/>
                </a:solidFill>
                <a:latin typeface="微软雅黑"/>
              </a:rPr>
              <a:t>   </a:t>
            </a:r>
            <a:r>
              <a:rPr altLang="zh-CN" sz="1100" b="0" dirty="0" err="1">
                <a:solidFill>
                  <a:srgbClr val="263238"/>
                </a:solidFill>
                <a:latin typeface="微软雅黑"/>
              </a:rPr>
              <a:t>本系统对隐私敏感用户的核心卖点</a:t>
            </a:r>
            <a:r>
              <a:rPr altLang="zh-CN" sz="1100" b="0" dirty="0">
                <a:solidFill>
                  <a:srgbClr val="263238"/>
                </a:solidFill>
                <a:latin typeface="微软雅黑"/>
              </a:rPr>
              <a:t>。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100" b="0" dirty="0" err="1">
                <a:solidFill>
                  <a:srgbClr val="263238"/>
                </a:solidFill>
                <a:latin typeface="微软雅黑"/>
              </a:rPr>
              <a:t>裁剪后剩余的单机能力仍构成</a:t>
            </a:r>
            <a:r>
              <a:rPr altLang="zh-CN" sz="1100" b="0" dirty="0">
                <a:solidFill>
                  <a:srgbClr val="263238"/>
                </a:solidFill>
                <a:latin typeface="微软雅黑"/>
              </a:rPr>
              <a:t> 47 </a:t>
            </a:r>
            <a:r>
              <a:rPr altLang="zh-CN" sz="1100" b="0" dirty="0" err="1">
                <a:solidFill>
                  <a:srgbClr val="263238"/>
                </a:solidFill>
                <a:latin typeface="微软雅黑"/>
              </a:rPr>
              <a:t>个功能点的饱满工作量</a:t>
            </a:r>
            <a:r>
              <a:rPr altLang="zh-CN" sz="1100" b="0" dirty="0">
                <a:solidFill>
                  <a:srgbClr val="263238"/>
                </a:solidFill>
                <a:latin typeface="微软雅黑"/>
              </a:rPr>
              <a:t>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742432"/>
            <a:ext cx="11183112" cy="475488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" y="58521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00" b="1">
                <a:solidFill>
                  <a:srgbClr val="E65100"/>
                </a:solidFill>
                <a:latin typeface="微软雅黑"/>
              </a:rPr>
              <a:t>一句话定位：保留系统剪贴板的零配置门槛，补齐它在检索、分类、容量控制、隐私与外观上的能力空白，把「单机 · 隐私 · 快」做到位。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>
                <a:solidFill>
                  <a:srgbClr val="0D47A1"/>
                </a:solidFill>
                <a:latin typeface="微软雅黑"/>
              </a:rPr>
              <a:t>竞品分析：Windows 自带剪贴板的能力缺口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546E7A"/>
                </a:solidFill>
                <a:latin typeface="微软雅黑"/>
              </a:rPr>
              <a:t>竞品即 Windows 10/11 系统自带剪贴板（Win+V），下表为逐项实测核验结果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19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9EADB5"/>
                </a:solidFill>
                <a:latin typeface="微软雅黑"/>
              </a:rPr>
              <a:t>剪贴板Pro ｜ 软件课程设计 第一周开题汇报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98448"/>
          <a:ext cx="11183109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1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能力维度</a:t>
                      </a:r>
                    </a:p>
                  </a:txBody>
                  <a:tcPr marL="45720" marR="45720" marT="18288" marB="18288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功能点</a:t>
                      </a:r>
                    </a:p>
                  </a:txBody>
                  <a:tcPr marL="45720" marR="45720" marT="18288" marB="18288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Windows 自带（Win+V）</a:t>
                      </a:r>
                    </a:p>
                  </a:txBody>
                  <a:tcPr marL="45720" marR="45720" marT="18288" marB="18288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剪贴板Pro 的解决方式</a:t>
                      </a:r>
                    </a:p>
                  </a:txBody>
                  <a:tcPr marL="45720" marR="45720" marT="18288" marB="18288" anchor="ctr"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持久化存储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F2-1~4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✗ 记录存放于系统会话，重启、注销后可能丢失，存储位置不可选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✅ 本地 SQLite 数据库，启动自动恢复，数据位置可见可控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自定义容量上限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F3-1~3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✗ 固定约 25 条，用户不可调，超出后最早的记录被丢弃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✅ 上限自己设定（或不限），超出按时间从旧到新裁剪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全文检索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F5-1~5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✗ 无任何搜索能力，只能按时间倒序翻看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✅ 正文 / 来源 / 标签三维匹配，输入即时检索并高亮命中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格式分类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F4-1~2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✗ 文本、富文本、图片混在同一列表，不能筛选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✅ 六类自动识别，顶部标签一键筛选并显示各类计数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重复内容合并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F6-1~4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✗ 相同内容重复复制产生多条独立记录，挤占列表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✅ 内容指纹判重，只留一条并自动刷新到顶部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记录组织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F7-1~5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△ 仅支持单条置顶，无标签、无分组、无备注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✅ 多色标签 + 置顶排序 + 内容编辑 + 批量删除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敏感信息保护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F9-1~3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✗ 无识别、无脱敏，身份证号与手机号明文显示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✅ 自动识别并掩码显示，原文加密落盘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外观定制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F8-1~5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✗ 外观完全跟随系统，不可换主题、不可调密度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✅ 六套主题 + 深浅色 + 自定义背景 + 列表密度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来源应用可见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F1-5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✗ 不显示内容来自哪个应用，无法借助来源回忆出处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✅ 记录来源应用并支持按来源筛选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零配置可用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✅ 零安装、零配置，与系统深度融合，响应路径最短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✅ 同样零配置：安装即用，托盘常驻，无需任何设置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035040"/>
            <a:ext cx="111831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50" b="0">
                <a:solidFill>
                  <a:srgbClr val="546E7A"/>
                </a:solidFill>
                <a:latin typeface="微软雅黑"/>
              </a:rPr>
              <a:t>结论：系统剪贴板在「零配置可用」上不可替代，我们完整保留这一优点；但它有 8 项能力的空白，正是本项目要补上的部分。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 dirty="0">
                <a:solidFill>
                  <a:srgbClr val="0D47A1"/>
                </a:solidFill>
                <a:latin typeface="微软雅黑"/>
              </a:rPr>
              <a:t>功能清单：9 </a:t>
            </a:r>
            <a:r>
              <a:rPr altLang="zh-CN" sz="2500" b="1" dirty="0" err="1">
                <a:solidFill>
                  <a:srgbClr val="0D47A1"/>
                </a:solidFill>
                <a:latin typeface="微软雅黑"/>
              </a:rPr>
              <a:t>个模块</a:t>
            </a:r>
            <a:endParaRPr altLang="zh-CN" sz="2500" b="1" dirty="0">
              <a:solidFill>
                <a:srgbClr val="0D47A1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19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9EADB5"/>
                </a:solidFill>
                <a:latin typeface="微软雅黑"/>
              </a:rPr>
              <a:t>剪贴板Pro ｜ 软件课程设计 第一周开题汇报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3666744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59436" cy="1170432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38988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1976D2"/>
                </a:solidFill>
                <a:latin typeface="微软雅黑"/>
              </a:rPr>
              <a:t>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399032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50" b="1">
                <a:solidFill>
                  <a:srgbClr val="263238"/>
                </a:solidFill>
                <a:latin typeface="微软雅黑"/>
              </a:rPr>
              <a:t>剪贴板监听与内容采集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399032"/>
            <a:ext cx="530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000" b="0">
                <a:solidFill>
                  <a:srgbClr val="546E7A"/>
                </a:solidFill>
                <a:latin typeface="微软雅黑"/>
              </a:rPr>
              <a:t>7 /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1755648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950" b="0">
                <a:solidFill>
                  <a:srgbClr val="546E7A"/>
                </a:solidFill>
                <a:latin typeface="微软雅黑"/>
              </a:rPr>
              <a:t>系统监听、六类内容采集、来源识别、回声抑制、暂停恢复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3" y="1298448"/>
            <a:ext cx="3666744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61103" y="1298448"/>
            <a:ext cx="59436" cy="1170432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25695" y="138988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1976D2"/>
                </a:solidFill>
                <a:latin typeface="微软雅黑"/>
              </a:rPr>
              <a:t>F2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1399032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50" b="1">
                <a:solidFill>
                  <a:srgbClr val="263238"/>
                </a:solidFill>
                <a:latin typeface="微软雅黑"/>
              </a:rPr>
              <a:t>本地持久化存储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1" y="1399032"/>
            <a:ext cx="530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000" b="0">
                <a:solidFill>
                  <a:srgbClr val="546E7A"/>
                </a:solidFill>
                <a:latin typeface="微软雅黑"/>
              </a:rPr>
              <a:t>6 /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5" y="1755648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950" b="0" dirty="0" err="1">
                <a:solidFill>
                  <a:srgbClr val="546E7A"/>
                </a:solidFill>
                <a:latin typeface="微软雅黑"/>
              </a:rPr>
              <a:t>自动建库建表、文本入库、图片外置、启动恢复、事务回滚、备份</a:t>
            </a:r>
            <a:endParaRPr altLang="zh-CN" sz="950" b="0" dirty="0">
              <a:solidFill>
                <a:srgbClr val="546E7A"/>
              </a:solidFill>
              <a:latin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19288" y="1298448"/>
            <a:ext cx="3666744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19288" y="1298448"/>
            <a:ext cx="59436" cy="11704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138988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2E7D32"/>
                </a:solidFill>
                <a:latin typeface="微软雅黑"/>
              </a:rPr>
              <a:t>F3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19" y="1399032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50" b="1">
                <a:solidFill>
                  <a:srgbClr val="263238"/>
                </a:solidFill>
                <a:latin typeface="微软雅黑"/>
              </a:rPr>
              <a:t>容量管理与存储策略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55096" y="1399032"/>
            <a:ext cx="530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000" b="0">
                <a:solidFill>
                  <a:srgbClr val="546E7A"/>
                </a:solidFill>
                <a:latin typeface="微软雅黑"/>
              </a:rPr>
              <a:t>5 /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1755648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950" b="0">
                <a:solidFill>
                  <a:srgbClr val="546E7A"/>
                </a:solidFill>
                <a:latin typeface="微软雅黑"/>
              </a:rPr>
              <a:t>自定义上限、超限裁剪、置顶与标签豁免、按时间清理、容量统计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2560320"/>
            <a:ext cx="3666744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2560320"/>
            <a:ext cx="59436" cy="11704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" y="265176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2E7D32"/>
                </a:solidFill>
                <a:latin typeface="微软雅黑"/>
              </a:rPr>
              <a:t>F4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2660903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50" b="1">
                <a:solidFill>
                  <a:srgbClr val="263238"/>
                </a:solidFill>
                <a:latin typeface="微软雅黑"/>
              </a:rPr>
              <a:t>格式识别与分类浏览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8728" y="2660903"/>
            <a:ext cx="530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000" b="0">
                <a:solidFill>
                  <a:srgbClr val="546E7A"/>
                </a:solidFill>
                <a:latin typeface="微软雅黑"/>
              </a:rPr>
              <a:t>5 /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301752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950" b="0">
                <a:solidFill>
                  <a:srgbClr val="546E7A"/>
                </a:solidFill>
                <a:latin typeface="微软雅黑"/>
              </a:rPr>
              <a:t>六类识别、类型筛选、来源筛选、时间分组、类型计数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61103" y="2560320"/>
            <a:ext cx="3666744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61103" y="2560320"/>
            <a:ext cx="59436" cy="11704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25695" y="265176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2E7D32"/>
                </a:solidFill>
                <a:latin typeface="微软雅黑"/>
              </a:rPr>
              <a:t>F5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74336" y="2660903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50" b="1">
                <a:solidFill>
                  <a:srgbClr val="263238"/>
                </a:solidFill>
                <a:latin typeface="微软雅黑"/>
              </a:rPr>
              <a:t>检索与定位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1" y="2660903"/>
            <a:ext cx="530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000" b="0">
                <a:solidFill>
                  <a:srgbClr val="546E7A"/>
                </a:solidFill>
                <a:latin typeface="微软雅黑"/>
              </a:rPr>
              <a:t>5 /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25695" y="301752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950" b="0">
                <a:solidFill>
                  <a:srgbClr val="546E7A"/>
                </a:solidFill>
                <a:latin typeface="微软雅黑"/>
              </a:rPr>
              <a:t>全文检索、来源检索、标签检索、命中高亮、输入即时检索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9288" y="2560320"/>
            <a:ext cx="3666744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19288" y="2560320"/>
            <a:ext cx="59436" cy="1170432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265176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E65100"/>
                </a:solidFill>
                <a:latin typeface="微软雅黑"/>
              </a:rPr>
              <a:t>F6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19" y="2660903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50" b="1">
                <a:solidFill>
                  <a:srgbClr val="263238"/>
                </a:solidFill>
                <a:latin typeface="微软雅黑"/>
              </a:rPr>
              <a:t>重复内容合并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55096" y="2660903"/>
            <a:ext cx="530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000" b="0">
                <a:solidFill>
                  <a:srgbClr val="546E7A"/>
                </a:solidFill>
                <a:latin typeface="微软雅黑"/>
              </a:rPr>
              <a:t>4 /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301752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950" b="0">
                <a:solidFill>
                  <a:srgbClr val="546E7A"/>
                </a:solidFill>
                <a:latin typeface="微软雅黑"/>
              </a:rPr>
              <a:t>文本指纹、图片像素指纹、合并刷新、使用次数累计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3822191"/>
            <a:ext cx="3666744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02920" y="3822191"/>
            <a:ext cx="59436" cy="1170432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7512" y="3913631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E65100"/>
                </a:solidFill>
                <a:latin typeface="微软雅黑"/>
              </a:rPr>
              <a:t>F7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3922776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50" b="1">
                <a:solidFill>
                  <a:srgbClr val="263238"/>
                </a:solidFill>
                <a:latin typeface="微软雅黑"/>
              </a:rPr>
              <a:t>记录组织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38728" y="3922776"/>
            <a:ext cx="530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000" b="0">
                <a:solidFill>
                  <a:srgbClr val="546E7A"/>
                </a:solidFill>
                <a:latin typeface="微软雅黑"/>
              </a:rPr>
              <a:t>5 /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" y="4279392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950" b="0">
                <a:solidFill>
                  <a:srgbClr val="546E7A"/>
                </a:solidFill>
                <a:latin typeface="微软雅黑"/>
              </a:rPr>
              <a:t>置顶排序、标签管理、内容编辑、删除与批量删除、清空历史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61103" y="3822191"/>
            <a:ext cx="3666744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261103" y="3822191"/>
            <a:ext cx="59436" cy="1170432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425695" y="3913631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6A1B9A"/>
                </a:solidFill>
                <a:latin typeface="微软雅黑"/>
              </a:rPr>
              <a:t>F8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74336" y="3922776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50" b="1">
                <a:solidFill>
                  <a:srgbClr val="263238"/>
                </a:solidFill>
                <a:latin typeface="微软雅黑"/>
              </a:rPr>
              <a:t>外观与窗口行为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96911" y="3922776"/>
            <a:ext cx="530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000" b="0">
                <a:solidFill>
                  <a:srgbClr val="546E7A"/>
                </a:solidFill>
                <a:latin typeface="微软雅黑"/>
              </a:rPr>
              <a:t>5 /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25695" y="4279392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950" b="0">
                <a:solidFill>
                  <a:srgbClr val="546E7A"/>
                </a:solidFill>
                <a:latin typeface="微软雅黑"/>
              </a:rPr>
              <a:t>六套主题、深浅色、自定义背景、贴边停靠、列表密度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19288" y="3822191"/>
            <a:ext cx="3666744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019288" y="3822191"/>
            <a:ext cx="59436" cy="1170432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3913631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6A1B9A"/>
                </a:solidFill>
                <a:latin typeface="微软雅黑"/>
              </a:rPr>
              <a:t>F9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32519" y="3922776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50" b="1">
                <a:solidFill>
                  <a:srgbClr val="263238"/>
                </a:solidFill>
                <a:latin typeface="微软雅黑"/>
              </a:rPr>
              <a:t>隐私与安全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55096" y="3922776"/>
            <a:ext cx="530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000" b="0">
                <a:solidFill>
                  <a:srgbClr val="546E7A"/>
                </a:solidFill>
                <a:latin typeface="微软雅黑"/>
              </a:rPr>
              <a:t>3 / 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83879" y="4279392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950" b="0">
                <a:solidFill>
                  <a:srgbClr val="546E7A"/>
                </a:solidFill>
                <a:latin typeface="微软雅黑"/>
              </a:rPr>
              <a:t>敏感识别、预览脱敏、敏感记录加密存储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6035040"/>
            <a:ext cx="111831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50" b="0">
                <a:solidFill>
                  <a:srgbClr val="0D47A1"/>
                </a:solidFill>
                <a:latin typeface="微软雅黑"/>
              </a:rPr>
              <a:t>「7 / 5」= 功能点数 / 其中核心功能点数。合计 47 个功能点，核心 36 个。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>
                <a:solidFill>
                  <a:srgbClr val="0D47A1"/>
                </a:solidFill>
                <a:latin typeface="微软雅黑"/>
              </a:rPr>
              <a:t>核心能力（一）：持久化、容量上限、检索、格式分类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546E7A"/>
                </a:solidFill>
                <a:latin typeface="微软雅黑"/>
              </a:rPr>
              <a:t>课程点名要求的四项能力，逐项说明落地方式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19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9EADB5"/>
                </a:solidFill>
                <a:latin typeface="微软雅黑"/>
              </a:rPr>
              <a:t>剪贴板Pro ｜ 软件课程设计 第一周开题汇报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5532120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5532120" cy="50292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444751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400" b="1">
                <a:solidFill>
                  <a:srgbClr val="1976D2"/>
                </a:solidFill>
                <a:latin typeface="微软雅黑"/>
              </a:rPr>
              <a:t>持久化保存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48132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000" b="0">
                <a:solidFill>
                  <a:srgbClr val="546E7A"/>
                </a:solidFill>
                <a:latin typeface="微软雅黑"/>
              </a:rPr>
              <a:t>F2-1 ~ F2-4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847088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本地 SQLite 数据库，首次启动自动建库建表；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图片以文件形式存入附件目录，数据库只存路径，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避免数据库膨胀；启动即恢复上一次的历史；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写入使用事务，异常回滚，不出现半条记录。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298448"/>
            <a:ext cx="5532120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53912" y="1298448"/>
            <a:ext cx="5532120" cy="502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79" y="1444751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400" b="1">
                <a:solidFill>
                  <a:srgbClr val="2E7D32"/>
                </a:solidFill>
                <a:latin typeface="微软雅黑"/>
              </a:rPr>
              <a:t>自定义存储上限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4432" y="148132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000" b="0">
                <a:solidFill>
                  <a:srgbClr val="546E7A"/>
                </a:solidFill>
                <a:latin typeface="微软雅黑"/>
              </a:rPr>
              <a:t>F3-1 ~ F3-3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1847088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上限条数可自填（常用 100 / 200 / 500 / 1000 / 2000）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或选择「不限」；超出后按时间从旧到新裁剪；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置顶记录与已打标签的记录永久豁免，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尊重用户的显式保留意图；收敛上限需二次确认。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30168"/>
            <a:ext cx="5532120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630168"/>
            <a:ext cx="5532120" cy="50292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377647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400" b="1">
                <a:solidFill>
                  <a:srgbClr val="E65100"/>
                </a:solidFill>
                <a:latin typeface="微软雅黑"/>
              </a:rPr>
              <a:t>搜索功能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81304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000" b="0">
                <a:solidFill>
                  <a:srgbClr val="546E7A"/>
                </a:solidFill>
                <a:latin typeface="微软雅黑"/>
              </a:rPr>
              <a:t>F5-1 ~ F5-5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4178807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050" b="0" dirty="0" err="1">
                <a:solidFill>
                  <a:srgbClr val="263238"/>
                </a:solidFill>
                <a:latin typeface="微软雅黑"/>
              </a:rPr>
              <a:t>内容正文、来源应用、标签三个维度模糊匹配</a:t>
            </a:r>
            <a:r>
              <a:rPr altLang="zh-CN" sz="1050" b="0" dirty="0">
                <a:solidFill>
                  <a:srgbClr val="263238"/>
                </a:solidFill>
                <a:latin typeface="微软雅黑"/>
              </a:rPr>
              <a:t>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050" b="0" dirty="0" err="1">
                <a:solidFill>
                  <a:srgbClr val="263238"/>
                </a:solidFill>
                <a:latin typeface="微软雅黑"/>
              </a:rPr>
              <a:t>输入做</a:t>
            </a:r>
            <a:r>
              <a:rPr altLang="zh-CN" sz="1050" b="0" dirty="0">
                <a:solidFill>
                  <a:srgbClr val="263238"/>
                </a:solidFill>
                <a:latin typeface="微软雅黑"/>
              </a:rPr>
              <a:t> 200 </a:t>
            </a:r>
            <a:r>
              <a:rPr altLang="zh-CN" sz="1050" b="0" dirty="0" err="1">
                <a:solidFill>
                  <a:srgbClr val="263238"/>
                </a:solidFill>
                <a:latin typeface="微软雅黑"/>
              </a:rPr>
              <a:t>毫秒防抖，避免每敲一个字符查一次库</a:t>
            </a:r>
            <a:r>
              <a:rPr altLang="zh-CN" sz="1050" b="0" dirty="0">
                <a:solidFill>
                  <a:srgbClr val="263238"/>
                </a:solidFill>
                <a:latin typeface="微软雅黑"/>
              </a:rPr>
              <a:t>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050" b="0" dirty="0" err="1">
                <a:solidFill>
                  <a:srgbClr val="263238"/>
                </a:solidFill>
                <a:latin typeface="微软雅黑"/>
              </a:rPr>
              <a:t>结果与类型、来源筛选取交集而非相互覆盖</a:t>
            </a:r>
            <a:r>
              <a:rPr altLang="zh-CN" sz="1050" b="0" dirty="0">
                <a:solidFill>
                  <a:srgbClr val="263238"/>
                </a:solidFill>
                <a:latin typeface="微软雅黑"/>
              </a:rPr>
              <a:t>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050" b="0" dirty="0" err="1">
                <a:solidFill>
                  <a:srgbClr val="263238"/>
                </a:solidFill>
                <a:latin typeface="微软雅黑"/>
              </a:rPr>
              <a:t>命中片段高亮；敏感记录可搜到但仍脱敏显示</a:t>
            </a:r>
            <a:r>
              <a:rPr altLang="zh-CN" sz="1050" b="0" dirty="0">
                <a:solidFill>
                  <a:srgbClr val="263238"/>
                </a:solidFill>
                <a:latin typeface="微软雅黑"/>
              </a:rPr>
              <a:t>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3630168"/>
            <a:ext cx="5532120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53912" y="3630168"/>
            <a:ext cx="5532120" cy="50292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79" y="377647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400" b="1">
                <a:solidFill>
                  <a:srgbClr val="6A1B9A"/>
                </a:solidFill>
                <a:latin typeface="微软雅黑"/>
              </a:rPr>
              <a:t>格式分类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4432" y="381304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000" b="0">
                <a:solidFill>
                  <a:srgbClr val="546E7A"/>
                </a:solidFill>
                <a:latin typeface="微软雅黑"/>
              </a:rPr>
              <a:t>F4-1 ~ F4-2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4178807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识别为六类：文本、富文本、代码、网址、图片、文件；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代码与网址用启发式规则判定（关键字打分 + 协议判断）；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顶部类型标签一键筛选，标签上显示各类记录条数；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支持再叠加来源应用筛选与时间分组。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>
                <a:solidFill>
                  <a:srgbClr val="0D47A1"/>
                </a:solidFill>
                <a:latin typeface="微软雅黑"/>
              </a:rPr>
              <a:t>核心能力（二）：自动合并、外观主题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546E7A"/>
                </a:solidFill>
                <a:latin typeface="微软雅黑"/>
              </a:rPr>
              <a:t>这两项是相对系统自带剪贴板差异最直观的能力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19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9EADB5"/>
                </a:solidFill>
                <a:latin typeface="微软雅黑"/>
              </a:rPr>
              <a:t>剪贴板Pro ｜ 软件课程设计 第一周开题汇报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5532120" cy="237744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44752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400" b="1">
                <a:solidFill>
                  <a:srgbClr val="2E7D32"/>
                </a:solidFill>
                <a:latin typeface="微软雅黑"/>
              </a:rPr>
              <a:t>自动合并：相同内容只保留一条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47088"/>
            <a:ext cx="507492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· 入库前计算内容指纹：文本用规范化（去首尾空白、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  统一换行符）后的哈希；图片用等比缩放后的像素哈希，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  因此同一张图被重新编码也能识别为重复；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· 命中已有记录时不新增行，而是刷新它的时间戳，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  让它自动浮到列表顶部；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· 关键差别：不覆盖用户已附加的置顶状态与标签，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  组织信息优先级高于系统的时间戳更新；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· 保留「强制新建一条」入口，避免误合并。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298448"/>
            <a:ext cx="5330952" cy="2377440"/>
          </a:xfrm>
          <a:prstGeom prst="roundRect">
            <a:avLst>
              <a:gd name="adj" fmla="val 6000"/>
            </a:avLst>
          </a:prstGeom>
          <a:solidFill>
            <a:srgbClr val="F3E5F5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444752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400" b="1">
                <a:solidFill>
                  <a:srgbClr val="6A1B9A"/>
                </a:solidFill>
                <a:latin typeface="微软雅黑"/>
              </a:rPr>
              <a:t>外观主题：六套视觉语言一键切换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47088"/>
            <a:ext cx="489204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· 内置六套主题：3D 复古、云母、毛玻璃、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  便利贴、纸质书感、樱花；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· 支持浅色 / 深色 / 跟随系统三种模式；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· 令牌化主题系统：公共层只定义布局与语义令牌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  （--card-radius、--shell-shadow 等），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  主题层只覆盖自己的视觉语言，新增主题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  不需要改动公共组件代码；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· 主面板与紧凑预览窗口必须同步换肤。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40480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1">
                <a:solidFill>
                  <a:srgbClr val="0D47A1"/>
                </a:solidFill>
                <a:latin typeface="微软雅黑"/>
              </a:rPr>
              <a:t>一个具体的对比场景：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4187952"/>
          <a:ext cx="11183111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4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3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场景</a:t>
                      </a:r>
                    </a:p>
                  </a:txBody>
                  <a:tcPr marL="45720" marR="45720" marT="18288" marB="18288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Windows 自带剪贴板</a:t>
                      </a:r>
                    </a:p>
                  </a:txBody>
                  <a:tcPr marL="45720" marR="45720" marT="18288" marB="18288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剪贴板Pro</a:t>
                      </a:r>
                    </a:p>
                  </a:txBody>
                  <a:tcPr marL="45720" marR="45720" marT="18288" marB="18288" anchor="ctr"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反复复制同一段话术 5 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列表里出现 5 条一模一样的记录，把有用内容挤下去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只保留 1 条，并自动刷新到顶部，使用次数记为 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想找三天前复制的一段文字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从上往下翻，翻不到就放弃，重新复制一遍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输入关键字，200 毫秒内定位并高亮命中片段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历史累积到几百条后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固定约 25 条上限，早期的早就没了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上限自己定，置顶与标签项永久保留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复制了身份证号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明文保存在列表里，投屏时直接暴露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识别为敏感，列表显示掩码，原文加密落盘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想换个顺眼的外观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跟随系统，不可改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六套主题 + 深浅色，即时生效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>
                <a:solidFill>
                  <a:srgbClr val="0D47A1"/>
                </a:solidFill>
                <a:latin typeface="微软雅黑"/>
              </a:rPr>
              <a:t>需求建模：参与者与 20 个用例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546E7A"/>
                </a:solidFill>
                <a:latin typeface="微软雅黑"/>
              </a:rPr>
              <a:t>共 1 个主要参与者、5 个次要参与者、20 个用例，覆盖 47 个功能点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19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9EADB5"/>
                </a:solidFill>
                <a:latin typeface="微软雅黑"/>
              </a:rPr>
              <a:t>剪贴板Pro ｜ 软件课程设计 第一周开题汇报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0D47A1"/>
                </a:solidFill>
                <a:latin typeface="微软雅黑"/>
              </a:rPr>
              <a:t>一、参与者（Actor）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9344"/>
            <a:ext cx="5394960" cy="566928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719072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1100" b="0">
                <a:solidFill>
                  <a:srgbClr val="263238"/>
                </a:solidFill>
                <a:latin typeface="微软雅黑"/>
              </a:rPr>
              <a:t>用户 —— 唯一的人类参与者。复制内容、翻看历史、检索、粘贴、组织记录、调整外观。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67712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00" b="1">
                <a:solidFill>
                  <a:srgbClr val="6A1B9A"/>
                </a:solidFill>
                <a:latin typeface="微软雅黑"/>
              </a:rPr>
              <a:t>次要参与者（画在用例图右侧）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78608"/>
            <a:ext cx="2615184" cy="365760"/>
          </a:xfrm>
          <a:prstGeom prst="roundRect">
            <a:avLst>
              <a:gd name="adj" fmla="val 6000"/>
            </a:avLst>
          </a:prstGeom>
          <a:solidFill>
            <a:srgbClr val="F3E5F5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660903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950" b="0">
                <a:solidFill>
                  <a:srgbClr val="6A1B9A"/>
                </a:solidFill>
                <a:latin typeface="微软雅黑"/>
              </a:rPr>
              <a:t>系统剪贴板监听器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17520"/>
            <a:ext cx="2615184" cy="365760"/>
          </a:xfrm>
          <a:prstGeom prst="roundRect">
            <a:avLst>
              <a:gd name="adj" fmla="val 6000"/>
            </a:avLst>
          </a:prstGeom>
          <a:solidFill>
            <a:srgbClr val="F3E5F5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099815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950" b="0">
                <a:solidFill>
                  <a:srgbClr val="6A1B9A"/>
                </a:solidFill>
                <a:latin typeface="微软雅黑"/>
              </a:rPr>
              <a:t>本地数据库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56432"/>
            <a:ext cx="2615184" cy="365760"/>
          </a:xfrm>
          <a:prstGeom prst="roundRect">
            <a:avLst>
              <a:gd name="adj" fmla="val 6000"/>
            </a:avLst>
          </a:prstGeom>
          <a:solidFill>
            <a:srgbClr val="F3E5F5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538727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950" b="0">
                <a:solidFill>
                  <a:srgbClr val="6A1B9A"/>
                </a:solidFill>
                <a:latin typeface="微软雅黑"/>
              </a:rPr>
              <a:t>配置仓库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95344"/>
            <a:ext cx="2615184" cy="365760"/>
          </a:xfrm>
          <a:prstGeom prst="roundRect">
            <a:avLst>
              <a:gd name="adj" fmla="val 6000"/>
            </a:avLst>
          </a:prstGeom>
          <a:solidFill>
            <a:srgbClr val="F3E5F5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977639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950" b="0">
                <a:solidFill>
                  <a:srgbClr val="6A1B9A"/>
                </a:solidFill>
                <a:latin typeface="微软雅黑"/>
              </a:rPr>
              <a:t>系统托盘与全局快捷键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334256"/>
            <a:ext cx="2615184" cy="365760"/>
          </a:xfrm>
          <a:prstGeom prst="roundRect">
            <a:avLst>
              <a:gd name="adj" fmla="val 6000"/>
            </a:avLst>
          </a:prstGeom>
          <a:solidFill>
            <a:srgbClr val="F3E5F5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416552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950" b="0">
                <a:solidFill>
                  <a:srgbClr val="6A1B9A"/>
                </a:solidFill>
                <a:latin typeface="微软雅黑"/>
              </a:rPr>
              <a:t>本地文件系统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28032"/>
            <a:ext cx="5394960" cy="1024128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4956048"/>
            <a:ext cx="4983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参与者划分依据是「系统边界」而不是「人的角色」：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本系统没有账号体系，因此不存在登录、权限、审核类用例；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操作系统能力与本地资源以次要参与者身份进入模型。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280160"/>
            <a:ext cx="53309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0D47A1"/>
                </a:solidFill>
                <a:latin typeface="微软雅黑"/>
              </a:rPr>
              <a:t>二、20 个用例按子系统分组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1609344"/>
            <a:ext cx="5330952" cy="21305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80" y="1609344"/>
            <a:ext cx="59436" cy="2130551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5392" y="1700784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50" b="1">
                <a:solidFill>
                  <a:srgbClr val="1976D2"/>
                </a:solidFill>
                <a:latin typeface="微软雅黑"/>
              </a:rPr>
              <a:t>内容采集与存储子系统（F1、F2、F6）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1993392"/>
            <a:ext cx="4983480" cy="1673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UC-01 监听剪贴板变化并采集内容 ★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UC-02 识别并归类内容格式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UC-03 持久化保存记录 ★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UC-06 重复内容合并刷新 ★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UC-05 超限自动裁剪历史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UC-14 暂停与恢复监听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UC-20 启动初始化与历史恢复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867911"/>
            <a:ext cx="5330952" cy="1485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55080" y="3867911"/>
            <a:ext cx="59436" cy="14859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5392" y="3959351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50" b="1">
                <a:solidFill>
                  <a:srgbClr val="2E7D32"/>
                </a:solidFill>
                <a:latin typeface="微软雅黑"/>
              </a:rPr>
              <a:t>检索与分类子系统（F4、F5）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4251959"/>
            <a:ext cx="498348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UC-07 浏览与分类筛选历史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UC-08 检索剪贴板历史 ★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UC-09 粘贴选中的记录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UC-13 删除与清空历史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5481827"/>
            <a:ext cx="5330952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55080" y="5481827"/>
            <a:ext cx="59436" cy="256032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65392" y="5573267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50" b="1">
                <a:solidFill>
                  <a:srgbClr val="E65100"/>
                </a:solidFill>
                <a:latin typeface="微软雅黑"/>
              </a:rPr>
              <a:t>组织、外观与隐私子系统（F7、F8、F9）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5865875"/>
            <a:ext cx="49834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UC-10 置顶与取消置顶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UC-11 管理标签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UC-12 编辑记录内容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UC-15 切换外观主题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UC-16 设置全局快捷键与窗口行为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UC-17 识别并脱敏敏感信息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UC-04 配置存储容量上限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UC-18 应用配置持久化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UC-19 注册全局快捷键与托盘入口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8170163"/>
            <a:ext cx="53309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546E7A"/>
                </a:solidFill>
                <a:latin typeface="微软雅黑"/>
              </a:rPr>
              <a:t>★ 为核心用例；完整用例说明见《02-用例图与用例说明.docx》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>
                <a:solidFill>
                  <a:srgbClr val="0D47A1"/>
                </a:solidFill>
                <a:latin typeface="微软雅黑"/>
              </a:rPr>
              <a:t>用例图：系统总用例图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546E7A"/>
                </a:solidFill>
                <a:latin typeface="微软雅黑"/>
              </a:rPr>
              <a:t>全部 6 个参与者与 20 个用例的整体关系，含 include / extend 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用例图-1-系统总用例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141" y="1188720"/>
            <a:ext cx="720341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355079"/>
            <a:ext cx="11183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000" b="0">
                <a:solidFill>
                  <a:srgbClr val="546E7A"/>
                </a:solidFill>
                <a:latin typeface="微软雅黑"/>
              </a:rPr>
              <a:t>橙色 = 主要参与者（人）　紫色 = 系统类次要参与者　青色 = 资源类次要参与者　绿色 = 核心用例　橙色椭圆 = 系统支撑用例　虚线 = include / extend 关系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>
                <a:solidFill>
                  <a:srgbClr val="0D47A1"/>
                </a:solidFill>
                <a:latin typeface="微软雅黑"/>
              </a:rPr>
              <a:t>用例图：内容采集与存储子系统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546E7A"/>
                </a:solidFill>
                <a:latin typeface="微软雅黑"/>
              </a:rPr>
              <a:t>本子系统是系统地基：全部价值都建立在「复制的一瞬间内容被正确接住并可靠存下」之上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用例图-2-内容采集与存储子系统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449" y="1188720"/>
            <a:ext cx="6160795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355079"/>
            <a:ext cx="11183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000" b="0">
                <a:solidFill>
                  <a:srgbClr val="546E7A"/>
                </a:solidFill>
                <a:latin typeface="微软雅黑"/>
              </a:rPr>
              <a:t>覆盖 UC-01、UC-02、UC-03、UC-05、UC-06、UC-14、UC-17、UC-20 共 8 个用例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>
                <a:solidFill>
                  <a:srgbClr val="0D47A1"/>
                </a:solidFill>
                <a:latin typeface="微软雅黑"/>
              </a:rPr>
              <a:t>用例图：检索与分类子系统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546E7A"/>
                </a:solidFill>
                <a:latin typeface="微软雅黑"/>
              </a:rPr>
              <a:t>本子系统是相对系统剪贴板最大的差异点：让历史从「能翻」变成「能找」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用例图-3-检索与分类子系统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417" y="1188720"/>
            <a:ext cx="612086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355079"/>
            <a:ext cx="11183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000" b="0">
                <a:solidFill>
                  <a:srgbClr val="546E7A"/>
                </a:solidFill>
                <a:latin typeface="微软雅黑"/>
              </a:rPr>
              <a:t>覆盖 UC-02、UC-07、UC-08、UC-09、UC-10、UC-11、UC-12、UC-13、UC-15、UC-17 共 10 个用例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>
                <a:solidFill>
                  <a:srgbClr val="0D47A1"/>
                </a:solidFill>
                <a:latin typeface="微软雅黑"/>
              </a:rPr>
              <a:t>用例图：组织、外观与隐私设置子系统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546E7A"/>
                </a:solidFill>
                <a:latin typeface="微软雅黑"/>
              </a:rPr>
              <a:t>本子系统决定工具「愿不愿意每天打开」：外观顺手、组织清晰、敏感内容不外露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13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用例图-4-组织与外观设置子系统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111" y="1188720"/>
            <a:ext cx="7253471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355079"/>
            <a:ext cx="11183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000" b="0">
                <a:solidFill>
                  <a:srgbClr val="546E7A"/>
                </a:solidFill>
                <a:latin typeface="微软雅黑"/>
              </a:rPr>
              <a:t>覆盖 UC-02、UC-03、UC-04、UC-09、UC-10、UC-11、UC-12、UC-13、UC-14、UC-15、UC-16、UC-17、UC-18、UC-19 共 14 个用例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>
                <a:solidFill>
                  <a:srgbClr val="0D47A1"/>
                </a:solidFill>
                <a:latin typeface="微软雅黑"/>
              </a:rPr>
              <a:t>核心用例：UC-08 检索剪贴板历史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546E7A"/>
                </a:solidFill>
                <a:latin typeface="微软雅黑"/>
              </a:rPr>
              <a:t>这是相对系统自带剪贴板差异最直观、演示效果最强的用例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19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9EADB5"/>
                </a:solidFill>
                <a:latin typeface="微软雅黑"/>
              </a:rPr>
              <a:t>剪贴板Pro ｜ 软件课程设计 第一周开题汇报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0D47A1"/>
                </a:solidFill>
                <a:latin typeface="微软雅黑"/>
              </a:rPr>
              <a:t>一、主事件流（节选）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9344"/>
            <a:ext cx="5394960" cy="347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" y="1645920"/>
            <a:ext cx="274320" cy="274320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689811"/>
            <a:ext cx="2743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682496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用户唤出面板，光标自动落在搜索框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025395"/>
            <a:ext cx="5394960" cy="347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0080" y="2061972"/>
            <a:ext cx="274320" cy="274320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105863"/>
            <a:ext cx="2743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098548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输入关键字，系统做 200 毫秒防抖处理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441448"/>
            <a:ext cx="5394960" cy="347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2478024"/>
            <a:ext cx="274320" cy="274320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521915"/>
            <a:ext cx="2743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514600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规范化关键字：去首尾空白、转小写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857500"/>
            <a:ext cx="5394960" cy="347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" y="2894076"/>
            <a:ext cx="274320" cy="274320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2937967"/>
            <a:ext cx="2743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293065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关键字为空 → 返回完整历史列表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273552"/>
            <a:ext cx="53949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080" y="3374136"/>
            <a:ext cx="274320" cy="274320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3418027"/>
            <a:ext cx="2743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3346704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关键字非空 → 三路匹配取并集：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内容正文 / 来源应用名称 / 所属标签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817620"/>
            <a:ext cx="5394960" cy="347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40080" y="3854196"/>
            <a:ext cx="274320" cy="274320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3898087"/>
            <a:ext cx="2743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389077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与当前类型筛选、来源筛选取交集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233672"/>
            <a:ext cx="5394960" cy="347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0080" y="4270248"/>
            <a:ext cx="274320" cy="274320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4314139"/>
            <a:ext cx="2743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4306824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按时间倒序，限制返回 200 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649724"/>
            <a:ext cx="5394960" cy="347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0080" y="4686300"/>
            <a:ext cx="274320" cy="274320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4730191"/>
            <a:ext cx="2743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4722876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结果渲染，命中片段高亮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1280160"/>
            <a:ext cx="53309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0D47A1"/>
                </a:solidFill>
                <a:latin typeface="微软雅黑"/>
              </a:rPr>
              <a:t>二、三个必须处理好的细节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1609344"/>
            <a:ext cx="5330952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55080" y="1609344"/>
            <a:ext cx="59436" cy="10607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0" y="1719072"/>
            <a:ext cx="4892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00" b="1">
                <a:solidFill>
                  <a:srgbClr val="1976D2"/>
                </a:solidFill>
                <a:latin typeface="微软雅黑"/>
              </a:rPr>
              <a:t>防抖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2029968"/>
            <a:ext cx="4892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每敲一个字符都查库会让输入卡顿。200 毫秒防抖后，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连续输入只在停顿处触发一次查询。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80" y="2779776"/>
            <a:ext cx="5330952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355080" y="2779776"/>
            <a:ext cx="59436" cy="106070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83680" y="2889504"/>
            <a:ext cx="4892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00" b="1">
                <a:solidFill>
                  <a:srgbClr val="E65100"/>
                </a:solidFill>
                <a:latin typeface="微软雅黑"/>
              </a:rPr>
              <a:t>敏感记录可搜到但仍脱敏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3200400"/>
            <a:ext cx="4892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敏感记录在库里是密文。系统解密后参与内存侧匹配，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保证「搜得到」与「看不懂」不冲突；解密分批进行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（每批 500 条），避免一次性解密全部记录造成卡顿。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3950208"/>
            <a:ext cx="5330952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355080" y="3950208"/>
            <a:ext cx="59436" cy="106070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83680" y="4059936"/>
            <a:ext cx="4892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00" b="1">
                <a:solidFill>
                  <a:srgbClr val="2E7D32"/>
                </a:solidFill>
                <a:latin typeface="微软雅黑"/>
              </a:rPr>
              <a:t>筛选叠加而非覆盖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4370832"/>
            <a:ext cx="4892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先检索再切类型时，以用户最后一次操作为准，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但当前生效的全部条件必须在界面上可见，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并支持一键清除——否则用户会以为记录丢了。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55080" y="5120640"/>
            <a:ext cx="5330952" cy="768096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83680" y="5230368"/>
            <a:ext cx="4892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业务规则：检索必须覆盖正文、来源、标签三个维度；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检索不得改变记录排序；敏感记录的明文不得因检索而出现在界面上。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>
                <a:solidFill>
                  <a:srgbClr val="0D47A1"/>
                </a:solidFill>
                <a:latin typeface="微软雅黑"/>
              </a:rPr>
              <a:t>软件创意：五项关键的工程取舍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546E7A"/>
                </a:solidFill>
                <a:latin typeface="微软雅黑"/>
              </a:rPr>
              <a:t>这些取舍决定了系统是不是「真的能用」，而不是「看起来能用」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19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9EADB5"/>
                </a:solidFill>
                <a:latin typeface="微软雅黑"/>
              </a:rPr>
              <a:t>剪贴板Pro ｜ 软件课程设计 第一周开题汇报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2176272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2176272" cy="50292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1481328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1">
                <a:solidFill>
                  <a:srgbClr val="1976D2"/>
                </a:solidFill>
                <a:latin typeface="微软雅黑"/>
              </a:rPr>
              <a:t>① 监听而非轮询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920240"/>
            <a:ext cx="1883664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不做定时读取剪贴板，而是向系统注册为剪贴板格式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监听器，在内容变化的一瞬间收到通知再读取。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收益：空闲时零 CPU 占用；不会因采样间隔漏掉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快速连续的复制操作。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4348" y="1298448"/>
            <a:ext cx="2176272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84348" y="1298448"/>
            <a:ext cx="2176272" cy="502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30652" y="1481328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1">
                <a:solidFill>
                  <a:srgbClr val="2E7D32"/>
                </a:solidFill>
                <a:latin typeface="微软雅黑"/>
              </a:rPr>
              <a:t>② 五阶段处理管线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0652" y="1920240"/>
            <a:ext cx="1883664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识别 → 转换 → 校验 → 持久化 → 分发。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每个阶段只做一件事，任何阶段都可终止本次处理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（命中忽略策略、判定为自身回声）。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过滤、脱敏、去重这些分散功能因此收敛成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同一条流水线上的插槽，而不是散落的 if 判断。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65776" y="1298448"/>
            <a:ext cx="2176272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65776" y="1298448"/>
            <a:ext cx="2176272" cy="50292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0" y="1481328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1">
                <a:solidFill>
                  <a:srgbClr val="E65100"/>
                </a:solidFill>
                <a:latin typeface="微软雅黑"/>
              </a:rPr>
              <a:t>③ 合并式去重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1920240"/>
            <a:ext cx="1883664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不是「发现重复就丢弃」，而是「发现重复就刷新」：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复用原记录主键，只更新时间戳与使用次数，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保留用户已附加的置顶与标签。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效果：反复复制同一段内容不产生新行，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但这条记录自动浮到顶部。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47204" y="1298448"/>
            <a:ext cx="2176272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47204" y="1298448"/>
            <a:ext cx="2176272" cy="50292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3508" y="1481328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1">
                <a:solidFill>
                  <a:srgbClr val="6A1B9A"/>
                </a:solidFill>
                <a:latin typeface="微软雅黑"/>
              </a:rPr>
              <a:t>④ 自粘贴回声抑制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3508" y="1920240"/>
            <a:ext cx="1883664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剪贴板管理器的天生缺陷：从自己面板粘贴出去的内容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会被自己的监听器重新记录一遍。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解法：写回剪贴板前先记录内容指纹与时刻；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收到通知时若指纹一致且间隔在 10 秒内，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判定为自身回声并丢弃。指纹与时间窗缺一不可。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28632" y="1298448"/>
            <a:ext cx="2176272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28632" y="1298448"/>
            <a:ext cx="2176272" cy="50292"/>
          </a:xfrm>
          <a:prstGeom prst="rect">
            <a:avLst/>
          </a:prstGeom>
          <a:solidFill>
            <a:srgbClr val="00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74936" y="1481328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1">
                <a:solidFill>
                  <a:srgbClr val="00697A"/>
                </a:solidFill>
                <a:latin typeface="微软雅黑"/>
              </a:rPr>
              <a:t>⑤ 令牌化主题系统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1920240"/>
            <a:ext cx="1883664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把「结构」与「视觉语言」分离：公共层只定义布局、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间距与一套语义令牌；每套主题是一份独立样式文件，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只覆盖自己关心的令牌与少量特殊效果。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收益：新增主题不需要改动公共组件代码，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也不会让某套主题的个性渗进全局默认值。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>
                <a:solidFill>
                  <a:srgbClr val="0D47A1"/>
                </a:solidFill>
                <a:latin typeface="微软雅黑"/>
              </a:rPr>
              <a:t>系统组成与部署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546E7A"/>
                </a:solidFill>
                <a:latin typeface="微软雅黑"/>
              </a:rPr>
              <a:t>三软件要素 + 六系统与资源要素，全部在本机完成，无网络依赖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19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9EADB5"/>
                </a:solidFill>
                <a:latin typeface="微软雅黑"/>
              </a:rPr>
              <a:t>剪贴板Pro ｜ 软件课程设计 第一周开题汇报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83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0D47A1"/>
                </a:solidFill>
                <a:latin typeface="微软雅黑"/>
              </a:rPr>
              <a:t>一、系统要素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91056"/>
          <a:ext cx="11183111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91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编号</a:t>
                      </a:r>
                    </a:p>
                  </a:txBody>
                  <a:tcPr marL="45720" marR="45720" marT="18288" marB="18288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要素</a:t>
                      </a:r>
                    </a:p>
                  </a:txBody>
                  <a:tcPr marL="45720" marR="45720" marT="18288" marB="18288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类型</a:t>
                      </a:r>
                    </a:p>
                  </a:txBody>
                  <a:tcPr marL="45720" marR="45720" marT="18288" marB="18288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职责</a:t>
                      </a:r>
                    </a:p>
                  </a:txBody>
                  <a:tcPr marL="45720" marR="45720" marT="18288" marB="18288" anchor="ctr"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E1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剪贴板管理客户端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自研软件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界面、快捷键、历史列表、设置面板、主题渲染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E2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剪贴板监听与读写模块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自研软件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注册系统监听、读取多格式内容、写回系统剪贴板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E3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内容处理管线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自研软件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五阶段处理：识别、转换、校验、持久化、分发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E4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本地数据库（SQLite）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第三方组件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存放历史记录、标签、配置项，进程内嵌，无需独立服务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E5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本地附件目录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本地资源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存放图片附件与富文本外置资源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E6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Windows 剪贴板服务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系统服务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操作系统提供的剪贴板链与多格式数据交换机制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E7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全局快捷键子系统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系统服务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注册系统级热键，在任意应用中唤起面板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E8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系统托盘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系统服务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常驻入口：显示/隐藏、暂停监听、退出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E9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系统文件系统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系统服务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8"/>
                          </a:solidFill>
                          <a:latin typeface="微软雅黑"/>
                        </a:rPr>
                        <a:t>数据库与附件目录的持久化载体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700016"/>
            <a:ext cx="11183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0D47A1"/>
                </a:solidFill>
                <a:latin typeface="微软雅黑"/>
              </a:rPr>
              <a:t>二、部署方式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010912"/>
            <a:ext cx="553212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5010912"/>
            <a:ext cx="54864" cy="38404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" y="5093208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76D2"/>
                </a:solidFill>
                <a:latin typeface="微软雅黑"/>
              </a:rPr>
              <a:t>运行平台：</a:t>
            </a:r>
            <a:r>
              <a:rPr sz="1000" b="0">
                <a:solidFill>
                  <a:srgbClr val="263238"/>
                </a:solidFill>
                <a:latin typeface="微软雅黑"/>
              </a:rPr>
              <a:t>Windows 10 1809+ / 11（x64 与 ARM64）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5010912"/>
            <a:ext cx="553212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53912" y="5010912"/>
            <a:ext cx="54864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0216" y="5093208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7D32"/>
                </a:solidFill>
                <a:latin typeface="微软雅黑"/>
              </a:rPr>
              <a:t>安装形态：</a:t>
            </a:r>
            <a:r>
              <a:rPr sz="1000" b="0">
                <a:solidFill>
                  <a:srgbClr val="263238"/>
                </a:solidFill>
                <a:latin typeface="微软雅黑"/>
              </a:rPr>
              <a:t>单文件安装包 .exe 与免安装便携版 .zip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449824"/>
            <a:ext cx="553212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5449824"/>
            <a:ext cx="54864" cy="38404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" y="5532120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5100"/>
                </a:solidFill>
                <a:latin typeface="微软雅黑"/>
              </a:rPr>
              <a:t>运行时依赖：</a:t>
            </a:r>
            <a:r>
              <a:rPr sz="1000" b="0">
                <a:solidFill>
                  <a:srgbClr val="263238"/>
                </a:solidFill>
                <a:latin typeface="微软雅黑"/>
              </a:rPr>
              <a:t>无。数据库为进程内嵌 SQLite，不需要数据库服务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5449824"/>
            <a:ext cx="553212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53912" y="5449824"/>
            <a:ext cx="54864" cy="384048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0216" y="5532120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A1B9A"/>
                </a:solidFill>
                <a:latin typeface="微软雅黑"/>
              </a:rPr>
              <a:t>数据位置：</a:t>
            </a:r>
            <a:r>
              <a:rPr sz="1000" b="0">
                <a:solidFill>
                  <a:srgbClr val="263238"/>
                </a:solidFill>
                <a:latin typeface="微软雅黑"/>
              </a:rPr>
              <a:t>%APPDATA%\剪贴板Pro\ 下放数据库与附件目录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88736"/>
            <a:ext cx="553212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5888736"/>
            <a:ext cx="54864" cy="384048"/>
          </a:xfrm>
          <a:prstGeom prst="rect">
            <a:avLst/>
          </a:prstGeom>
          <a:solidFill>
            <a:srgbClr val="00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" y="5971032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697A"/>
                </a:solidFill>
                <a:latin typeface="微软雅黑"/>
              </a:rPr>
              <a:t>网络要求：</a:t>
            </a:r>
            <a:r>
              <a:rPr sz="1000" b="0">
                <a:solidFill>
                  <a:srgbClr val="263238"/>
                </a:solidFill>
                <a:latin typeface="微软雅黑"/>
              </a:rPr>
              <a:t>无。程序不发起任何网络请求，可完全离线使用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3912" y="5888736"/>
            <a:ext cx="553212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53912" y="5888736"/>
            <a:ext cx="54864" cy="38404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0216" y="5971032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D47A1"/>
                </a:solidFill>
                <a:latin typeface="微软雅黑"/>
              </a:rPr>
              <a:t>部署步骤：</a:t>
            </a:r>
            <a:r>
              <a:rPr sz="1000" b="0">
                <a:solidFill>
                  <a:srgbClr val="263238"/>
                </a:solidFill>
                <a:latin typeface="微软雅黑"/>
              </a:rPr>
              <a:t>安装 → 自动建库建表 → 注册监听与快捷键 → 托盘常驻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>
                <a:solidFill>
                  <a:srgbClr val="0D47A1"/>
                </a:solidFill>
                <a:latin typeface="微软雅黑"/>
              </a:rPr>
              <a:t>关键算法（一）：内容指纹与合并判定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546E7A"/>
                </a:solidFill>
                <a:latin typeface="微软雅黑"/>
              </a:rPr>
              <a:t>去重是全系统最容易出错、也最能体现工程能力的一段逻辑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19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9EADB5"/>
                </a:solidFill>
                <a:latin typeface="微软雅黑"/>
              </a:rPr>
              <a:t>剪贴板Pro ｜ 软件课程设计 第一周开题汇报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0D47A1"/>
                </a:solidFill>
                <a:latin typeface="微软雅黑"/>
              </a:rPr>
              <a:t>一、指纹怎么算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91056"/>
            <a:ext cx="548640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文本类：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  1) 统一换行符：\r\n 与 \r 一律归一为 \n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  2) 去除首尾空白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  3) 对规范化后的完整内容计算哈希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  为什么要规范化：同一段文字从不同软件复制出来，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  换行符与首尾空白往往不同，不规范化就会漏判。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altLang="zh-CN" sz="1050" b="0">
              <a:solidFill>
                <a:srgbClr val="263238"/>
              </a:solidFill>
              <a:latin typeface="微软雅黑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图片类：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  1) 将图片等比缩放后取像素数据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  2) 对像素计算哈希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  为什么要缩放：同一张图被重新编码后字节不同，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  但视觉完全相同，按字节比对会漏判。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80160"/>
            <a:ext cx="54223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0D47A1"/>
                </a:solidFill>
                <a:latin typeface="微软雅黑"/>
              </a:rPr>
              <a:t>二、合并判定流程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91056"/>
            <a:ext cx="5422392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0" y="1636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680667"/>
            <a:ext cx="2743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65506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判断是否启用合并（配置项）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025395"/>
            <a:ext cx="5422392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00800" y="2071115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115007"/>
            <a:ext cx="2743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089403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计算本次内容的指纹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459736"/>
            <a:ext cx="5422392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0800" y="250545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549347"/>
            <a:ext cx="2743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252374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按「类型 + 指纹」查询已有记录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894076"/>
            <a:ext cx="542239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00800" y="3012948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3056839"/>
            <a:ext cx="2743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2958084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富文本额外比对 HTML；HTML 不同但纯文本相同时，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仅在 10 秒自复制窗口内判为重复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474720"/>
            <a:ext cx="542239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00800" y="3593591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637483"/>
            <a:ext cx="2743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3538727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命中 → 复用原记录 id，更新时间戳、来源、次数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未命中 → 作为新记录插入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055363"/>
            <a:ext cx="5422392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00800" y="4101083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4144975"/>
            <a:ext cx="2743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8" y="411937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保留原记录的置顶状态与标签集合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489703"/>
            <a:ext cx="5422392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00800" y="4535423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4579315"/>
            <a:ext cx="2743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455371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推送事件，界面把该卡片移到顶部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3566160"/>
            <a:ext cx="5486400" cy="2359152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3694176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1">
                <a:solidFill>
                  <a:srgbClr val="C62828"/>
                </a:solidFill>
                <a:latin typeface="微软雅黑"/>
              </a:rPr>
              <a:t>三、为什么不能用「前若干字符」判重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023360"/>
            <a:ext cx="502920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两条内容前半段相同、后半段不同，是极常见的情况：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· 同一份模板改了几处数字的报价单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· 同一段代码改了一个变量的两个版本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· 同一份通知发给不同人的名单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altLang="zh-CN" sz="1000" b="0">
              <a:solidFill>
                <a:srgbClr val="263238"/>
              </a:solidFill>
              <a:latin typeface="微软雅黑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如果只比对前 N 个字符，这些内容会被误判为重复，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用户后复制的那一版会被悄悄丢弃——这是比「漏判」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严重得多的错误，因为用户会丢数据。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altLang="zh-CN" sz="1000" b="0">
              <a:solidFill>
                <a:srgbClr val="263238"/>
              </a:solidFill>
              <a:latin typeface="微软雅黑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因此本系统的指纹基于规范化后的完整内容。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同时保留「强制新建一条」入口，作为兜底纠错手段。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>
                <a:solidFill>
                  <a:srgbClr val="0D47A1"/>
                </a:solidFill>
                <a:latin typeface="微软雅黑"/>
              </a:rPr>
              <a:t>关键算法（二）：容量裁剪与自粘贴回声抑制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546E7A"/>
                </a:solidFill>
                <a:latin typeface="微软雅黑"/>
              </a:rPr>
              <a:t>一个管住数据规模，一个管住自身污染——两者都是「不做就会出事」的逻辑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18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19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9EADB5"/>
                </a:solidFill>
                <a:latin typeface="微软雅黑"/>
              </a:rPr>
              <a:t>剪贴板Pro ｜ 软件课程设计 第一周开题汇报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532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0D47A1"/>
                </a:solidFill>
                <a:latin typeface="微软雅黑"/>
              </a:rPr>
              <a:t>一、容量上限裁剪（UC-05）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91056"/>
            <a:ext cx="5532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触发时机：每次记录写入完成后，或用户修改上限后。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计量口径：只统计「不参与豁免」的记录，豁免条件为「已置顶」或「已打标签」。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12848"/>
            <a:ext cx="5532120" cy="1874519"/>
          </a:xfrm>
          <a:prstGeom prst="roundRect">
            <a:avLst>
              <a:gd name="adj" fmla="val 6000"/>
            </a:avLst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322576"/>
            <a:ext cx="521208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读取配置：上限是否启用？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  ├ 未启用 → 直接结束，不删除任何记录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  └ 已启用 → 统计不参与豁免的记录条数 N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       判断 N &gt; 上限 ？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         ├ 否 → 结束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         └ 是 → 需删除 D = N − 上限 条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              按时间升序取最旧的 D 条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              逐条删除：先清理其独占附件，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                        再删记录与标签关联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              推送 clipboard-removed 事件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              界面移除对应卡片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06240"/>
            <a:ext cx="5532120" cy="1719072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334256"/>
            <a:ext cx="5074920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四条业务规则：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R1 裁剪顺序严格按时间从旧到新，禁止随机删除或删除最新的记录；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R2 置顶记录与已打标签的记录永不参与自动裁剪——这是对用户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     显式保留意图的尊重；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R3 裁剪必须与附件清理联动，不允许出现「数据库里没记录、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     磁盘上却残留孤儿文件」的长期状态；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R4 一次入库最多触发一次裁剪，避免反复扫描数据库。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280160"/>
            <a:ext cx="53309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0D47A1"/>
                </a:solidFill>
                <a:latin typeface="微软雅黑"/>
              </a:rPr>
              <a:t>二、自粘贴回声抑制（UC-09 的核心）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591056"/>
            <a:ext cx="533095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问题：用户从本系统面板粘贴内容后，写回剪贴板的动作会触发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altLang="zh-CN" sz="1050" b="0">
                <a:solidFill>
                  <a:srgbClr val="263238"/>
                </a:solidFill>
                <a:latin typeface="微软雅黑"/>
              </a:rPr>
              <a:t>自己的监听器，把刚粘贴出去的内容又记录一遍，历史被自身操作刷屏。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157984"/>
            <a:ext cx="5330952" cy="1920240"/>
          </a:xfrm>
          <a:prstGeom prst="roundRect">
            <a:avLst>
              <a:gd name="adj" fmla="val 6000"/>
            </a:avLst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267712"/>
            <a:ext cx="50292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Step 1  计算待写回内容的指纹，连同当前时刻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        记为「粘贴标记」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Step 2  把内容写回系统剪贴板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Step 3  把焦点交还给用户原本使用的应用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Step 4  模拟 Ctrl+V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Step 5  监听器收到变化通知，读取内容并比对标记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          ├ 指纹一致 且 间隔 &lt; 10 秒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          │   → 判定为自身回声，丢弃并清除标记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          └ 指纹不一致 或 已超时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              → 作为新内容正常采集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Step 6  若开启「粘贴后删除」或「顺序粘贴」，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B0BEC5"/>
                </a:solidFill>
                <a:latin typeface="微软雅黑"/>
              </a:rPr>
              <a:t>        推进相应队列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206240"/>
            <a:ext cx="5330952" cy="1719072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4334256"/>
            <a:ext cx="4892040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两个容易被忽略但必须写进需求的点：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· 顺序必须是「先写标记 → 再写剪贴板 → 最后模拟按键」，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  顺序颠倒会导致标记晚于通知产生，抑制必然失效；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· 面板必须把焦点交还给用户原本使用的应用，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  否则粘贴会落到本系统自己的窗口里——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  这是这类工具最常见也最影响体验的缺陷。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>
                <a:solidFill>
                  <a:srgbClr val="0D47A1"/>
                </a:solidFill>
                <a:latin typeface="微软雅黑"/>
              </a:rPr>
              <a:t>技术选型与可行性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546E7A"/>
                </a:solidFill>
                <a:latin typeface="微软雅黑"/>
              </a:rPr>
              <a:t>全部采用成熟方案，无自研底层框架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19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19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9EADB5"/>
                </a:solidFill>
                <a:latin typeface="微软雅黑"/>
              </a:rPr>
              <a:t>剪贴板Pro ｜ 软件课程设计 第一周开题汇报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83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0D47A1"/>
                </a:solidFill>
                <a:latin typeface="微软雅黑"/>
              </a:rPr>
              <a:t>一、技术选型与学习成本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91056"/>
          <a:ext cx="1118311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6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3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1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技术点</a:t>
                      </a:r>
                    </a:p>
                  </a:txBody>
                  <a:tcPr marL="45720" marR="45720" marT="18288" marB="18288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选型</a:t>
                      </a:r>
                    </a:p>
                  </a:txBody>
                  <a:tcPr marL="45720" marR="45720" marT="18288" marB="18288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成熟度与依据</a:t>
                      </a:r>
                    </a:p>
                  </a:txBody>
                  <a:tcPr marL="45720" marR="45720" marT="18288" marB="18288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学习成本</a:t>
                      </a:r>
                    </a:p>
                  </a:txBody>
                  <a:tcPr marL="45720" marR="45720" marT="18288" marB="18288" anchor="ctr"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桌面应用框架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Tauri 2（Rust 内核 + Web 前端）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成熟开源框架，官方文档完整，同类项目已在生产使用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约 3~4 天熟悉工程结构与打包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系统剪贴板监听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系统剪贴板格式监听机制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官方提供二十余年的标准机制，也是所有同类工具的通用做法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约 1~2 天，参考官方文档与示例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本地数据库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SQLite（进程内嵌）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单文件、零配置、跨平台，桌面应用本地存储的行业默认选择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团队已具备 SQL 基础，约 1 天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前端界面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React + TypeScript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团队课程内已学习，生态成熟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复用已有知识，成本主要在状态管理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列表虚拟滚动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列表虚拟化方案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历史可能上千条，虚拟滚动避免一次渲染全部节点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约 1 天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全局快捷键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系统热键注册接口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标准系统能力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约 0.5 天</a:t>
                      </a:r>
                    </a:p>
                  </a:txBody>
                  <a:tcPr marL="45720" marR="45720" marT="18288" marB="18288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主题令牌体系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CSS 变量 + 独立主题文件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纯前端技术，无额外依赖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3238"/>
                          </a:solidFill>
                          <a:latin typeface="微软雅黑"/>
                        </a:rPr>
                        <a:t>约 1 天（含六套主题的样式打磨）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133087"/>
            <a:ext cx="11183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0D47A1"/>
                </a:solidFill>
                <a:latin typeface="微软雅黑"/>
              </a:rPr>
              <a:t>二、可行性结论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443984"/>
            <a:ext cx="55321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4443984"/>
            <a:ext cx="54864" cy="7498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4517136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00" b="1">
                <a:solidFill>
                  <a:srgbClr val="2E7D32"/>
                </a:solidFill>
                <a:latin typeface="微软雅黑"/>
              </a:rPr>
              <a:t>技术可行性</a:t>
            </a:r>
          </a:p>
        </p:txBody>
      </p:sp>
      <p:sp>
        <p:nvSpPr>
          <p:cNvPr id="14" name="Oval 13"/>
          <p:cNvSpPr/>
          <p:nvPr/>
        </p:nvSpPr>
        <p:spPr>
          <a:xfrm>
            <a:off x="5349240" y="4507992"/>
            <a:ext cx="566928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9240" y="4551883"/>
            <a:ext cx="566928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791456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无自研底层框架；三个技术难点（多格式解析、回声抑制、列表性能）都已定位到具体解法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4443984"/>
            <a:ext cx="55321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53912" y="4443984"/>
            <a:ext cx="54864" cy="7498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18503" y="4517136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00" b="1">
                <a:solidFill>
                  <a:srgbClr val="2E7D32"/>
                </a:solidFill>
                <a:latin typeface="微软雅黑"/>
              </a:rPr>
              <a:t>条件可行性</a:t>
            </a:r>
          </a:p>
        </p:txBody>
      </p:sp>
      <p:sp>
        <p:nvSpPr>
          <p:cNvPr id="20" name="Oval 19"/>
          <p:cNvSpPr/>
          <p:nvPr/>
        </p:nvSpPr>
        <p:spPr>
          <a:xfrm>
            <a:off x="11000232" y="4507992"/>
            <a:ext cx="566928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00232" y="4551883"/>
            <a:ext cx="566928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3" y="4791456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团队本人就是目标用户；无硬件依赖；无需服务器与网络；答辩现场用一台笔记本即可演示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85232"/>
            <a:ext cx="55321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5285232"/>
            <a:ext cx="54864" cy="74980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" y="5358384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00" b="1">
                <a:solidFill>
                  <a:srgbClr val="E65100"/>
                </a:solidFill>
                <a:latin typeface="微软雅黑"/>
              </a:rPr>
              <a:t>时间可行性</a:t>
            </a:r>
          </a:p>
        </p:txBody>
      </p:sp>
      <p:sp>
        <p:nvSpPr>
          <p:cNvPr id="26" name="Oval 25"/>
          <p:cNvSpPr/>
          <p:nvPr/>
        </p:nvSpPr>
        <p:spPr>
          <a:xfrm>
            <a:off x="5349240" y="5349240"/>
            <a:ext cx="566928" cy="27432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49240" y="5393131"/>
            <a:ext cx="566928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较高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5632704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课程 32 学时 + 课外约 128 人时；每人每周约 10 小时；低优先级功能点可裁剪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3912" y="5285232"/>
            <a:ext cx="55321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53912" y="5285232"/>
            <a:ext cx="54864" cy="7498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18503" y="5358384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00" b="1">
                <a:solidFill>
                  <a:srgbClr val="2E7D32"/>
                </a:solidFill>
                <a:latin typeface="微软雅黑"/>
              </a:rPr>
              <a:t>规模可行性</a:t>
            </a:r>
          </a:p>
        </p:txBody>
      </p:sp>
      <p:sp>
        <p:nvSpPr>
          <p:cNvPr id="32" name="Oval 31"/>
          <p:cNvSpPr/>
          <p:nvPr/>
        </p:nvSpPr>
        <p:spPr>
          <a:xfrm>
            <a:off x="11000232" y="5349240"/>
            <a:ext cx="566928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000232" y="5393131"/>
            <a:ext cx="566928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FFFFFF"/>
                </a:solidFill>
                <a:latin typeface="微软雅黑"/>
              </a:rPr>
              <a:t>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8503" y="5632704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9 模块 47 功能点、5 张表、约 35 个命令接口、约 1.2 万行代码；可切成 4 条并行开发线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>
                <a:solidFill>
                  <a:srgbClr val="0D47A1"/>
                </a:solidFill>
                <a:latin typeface="微软雅黑"/>
              </a:rPr>
              <a:t>主要风险与应对措施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546E7A"/>
                </a:solidFill>
                <a:latin typeface="微软雅黑"/>
              </a:rPr>
              <a:t>标红的是需要重点管控的风险项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19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9EADB5"/>
                </a:solidFill>
                <a:latin typeface="微软雅黑"/>
              </a:rPr>
              <a:t>剪贴板Pro ｜ 软件课程设计 第一周开题汇报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1118311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453895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00" b="1">
                <a:solidFill>
                  <a:srgbClr val="C62828"/>
                </a:solidFill>
                <a:latin typeface="微软雅黑"/>
              </a:rPr>
              <a:t>R1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453895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50" b="1">
                <a:solidFill>
                  <a:srgbClr val="263238"/>
                </a:solidFill>
                <a:latin typeface="微软雅黑"/>
              </a:rPr>
              <a:t>多格式解析出错导致内容乱码或截断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1463039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950" b="0">
                <a:solidFill>
                  <a:srgbClr val="546E7A"/>
                </a:solidFill>
                <a:latin typeface="微软雅黑"/>
              </a:rPr>
              <a:t>影响 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380744"/>
            <a:ext cx="5532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先只做纯文本通道跑通全流程，再逐类扩展；每类配单元测试；解析失败降级为纯文本并记录日志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911095"/>
            <a:ext cx="1118311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066543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00" b="1">
                <a:solidFill>
                  <a:srgbClr val="C62828"/>
                </a:solidFill>
                <a:latin typeface="微软雅黑"/>
              </a:rPr>
              <a:t>R2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2066543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50" b="1">
                <a:solidFill>
                  <a:srgbClr val="263238"/>
                </a:solidFill>
                <a:latin typeface="微软雅黑"/>
              </a:rPr>
              <a:t>自粘贴回声导致历史被自身操作刷屏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207568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950" b="0">
                <a:solidFill>
                  <a:srgbClr val="546E7A"/>
                </a:solidFill>
                <a:latin typeface="微软雅黑"/>
              </a:rPr>
              <a:t>影响 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993391"/>
            <a:ext cx="5532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粘贴标记 + 内容指纹 + 10 秒时间窗三重判定；编写专项测试覆盖连续粘贴场景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523744"/>
            <a:ext cx="1118311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2679191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00" b="1">
                <a:solidFill>
                  <a:srgbClr val="C62828"/>
                </a:solidFill>
                <a:latin typeface="微软雅黑"/>
              </a:rPr>
              <a:t>R3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2679191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50" b="1">
                <a:solidFill>
                  <a:srgbClr val="263238"/>
                </a:solidFill>
                <a:latin typeface="微软雅黑"/>
              </a:rPr>
              <a:t>去重策略误合并，两条不同内容被并成一条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2688336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950" b="0">
                <a:solidFill>
                  <a:srgbClr val="546E7A"/>
                </a:solidFill>
                <a:latin typeface="微软雅黑"/>
              </a:rPr>
              <a:t>影响 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606039"/>
            <a:ext cx="5532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指纹基于规范化后的完整内容而非前若干字符；保留「强制新建一条」入口作为兜底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136391"/>
            <a:ext cx="1118311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3291839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00" b="1">
                <a:solidFill>
                  <a:srgbClr val="C62828"/>
                </a:solidFill>
                <a:latin typeface="微软雅黑"/>
              </a:rPr>
              <a:t>R4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" y="3291839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50" b="1">
                <a:solidFill>
                  <a:srgbClr val="263238"/>
                </a:solidFill>
                <a:latin typeface="微软雅黑"/>
              </a:rPr>
              <a:t>超限裁剪误删用户想保留的内容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330098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950" b="0">
                <a:solidFill>
                  <a:srgbClr val="546E7A"/>
                </a:solidFill>
                <a:latin typeface="微软雅黑"/>
              </a:rPr>
              <a:t>影响 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218687"/>
            <a:ext cx="5532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置顶与已打标签的记录一律豁免；裁剪前明确提示上限与将被清理的范围；提供按时间清理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749039"/>
            <a:ext cx="1118311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3904487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00" b="1">
                <a:solidFill>
                  <a:srgbClr val="E65100"/>
                </a:solidFill>
                <a:latin typeface="微软雅黑"/>
              </a:rPr>
              <a:t>R5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3584" y="3904487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50" b="1">
                <a:solidFill>
                  <a:srgbClr val="263238"/>
                </a:solidFill>
                <a:latin typeface="微软雅黑"/>
              </a:rPr>
              <a:t>历史记录上千条后列表卡顿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4608" y="3913631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950" b="0">
                <a:solidFill>
                  <a:srgbClr val="546E7A"/>
                </a:solidFill>
                <a:latin typeface="微软雅黑"/>
              </a:rPr>
              <a:t>影响 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831335"/>
            <a:ext cx="5532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列表虚拟化只渲染可视区域；数据库建立时间与类型哈希索引；检索走 SQL 而非内存遍历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361688"/>
            <a:ext cx="1118311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451713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00" b="1">
                <a:solidFill>
                  <a:srgbClr val="E65100"/>
                </a:solidFill>
                <a:latin typeface="微软雅黑"/>
              </a:rPr>
              <a:t>R6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3584" y="451713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50" b="1">
                <a:solidFill>
                  <a:srgbClr val="263238"/>
                </a:solidFill>
                <a:latin typeface="微软雅黑"/>
              </a:rPr>
              <a:t>UML 图必须人工绘制（课程要求）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4526279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950" b="0">
                <a:solidFill>
                  <a:srgbClr val="546E7A"/>
                </a:solidFill>
                <a:latin typeface="微软雅黑"/>
              </a:rPr>
              <a:t>影响 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443983"/>
            <a:ext cx="5532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全部图纸用 draw.io 手工绘制并提交 .drawio 原始工程文件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974336"/>
            <a:ext cx="1118311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5129783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00" b="1">
                <a:solidFill>
                  <a:srgbClr val="E65100"/>
                </a:solidFill>
                <a:latin typeface="微软雅黑"/>
              </a:rPr>
              <a:t>R7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3584" y="5129783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50" b="1">
                <a:solidFill>
                  <a:srgbClr val="263238"/>
                </a:solidFill>
                <a:latin typeface="微软雅黑"/>
              </a:rPr>
              <a:t>AI 生成内容需人工核验（课程要求）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64608" y="5138927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950" b="0">
                <a:solidFill>
                  <a:srgbClr val="546E7A"/>
                </a:solidFill>
                <a:latin typeface="微软雅黑"/>
              </a:rPr>
              <a:t>影响 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5056631"/>
            <a:ext cx="5532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逐条核验并记录使用时间、用途、核验与修改情况，形成 AI 使用说明写入周工作总结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586983"/>
            <a:ext cx="1118311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" y="5742431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00" b="1">
                <a:solidFill>
                  <a:srgbClr val="E65100"/>
                </a:solidFill>
                <a:latin typeface="微软雅黑"/>
              </a:rPr>
              <a:t>R8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3584" y="5742431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50" b="1">
                <a:solidFill>
                  <a:srgbClr val="263238"/>
                </a:solidFill>
                <a:latin typeface="微软雅黑"/>
              </a:rPr>
              <a:t>演示现场环境故障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64608" y="5751575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950" b="0">
                <a:solidFill>
                  <a:srgbClr val="546E7A"/>
                </a:solidFill>
                <a:latin typeface="微软雅黑"/>
              </a:rPr>
              <a:t>影响 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5669279"/>
            <a:ext cx="5532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提前一天在演示机完成安装与建库；准备预置历史数据；关键流程录屏备份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035040"/>
            <a:ext cx="111831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50" b="0">
                <a:solidFill>
                  <a:srgbClr val="C62828"/>
                </a:solidFill>
                <a:latin typeface="微软雅黑"/>
              </a:rPr>
              <a:t>重点管控：R2 回声抑制（技术底线）、R3 去重正确性（数据安全底线）、R6 课程合规性（纪律底线）、R8 演示可靠性。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2500" b="1">
                <a:solidFill>
                  <a:srgbClr val="0D47A1"/>
                </a:solidFill>
                <a:latin typeface="微软雅黑"/>
              </a:rPr>
              <a:t>第二周工作安排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50" b="0">
                <a:solidFill>
                  <a:srgbClr val="546E7A"/>
                </a:solidFill>
                <a:latin typeface="微软雅黑"/>
              </a:rPr>
              <a:t>第一周收尾 + 第二周开发计划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altLang="zh-CN" sz="1100" b="0">
                <a:solidFill>
                  <a:srgbClr val="546E7A"/>
                </a:solidFill>
                <a:latin typeface="微软雅黑"/>
              </a:rPr>
              <a:t>21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19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9EADB5"/>
                </a:solidFill>
                <a:latin typeface="微软雅黑"/>
              </a:rPr>
              <a:t>剪贴板Pro ｜ 软件课程设计 第一周开题汇报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0D47A1"/>
                </a:solidFill>
                <a:latin typeface="微软雅黑"/>
              </a:rPr>
              <a:t>一、第一周剩余事项（周五 24:00 前）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9344"/>
            <a:ext cx="53949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1728216"/>
            <a:ext cx="146304" cy="1463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4892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确认选题，完成 4 人组队与分工到人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43684"/>
            <a:ext cx="53949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" y="2162556"/>
            <a:ext cx="146304" cy="1463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125979"/>
            <a:ext cx="4892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建立公开 Git 仓库，划分「开发/」与「文档/」目录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78024"/>
            <a:ext cx="53949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" y="2596896"/>
            <a:ext cx="146304" cy="1463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560320"/>
            <a:ext cx="4892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在本机实测 Windows 自带剪贴板并截图，形成一手竞品证据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12364"/>
            <a:ext cx="53949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" y="3031236"/>
            <a:ext cx="146304" cy="1463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2994660"/>
            <a:ext cx="4892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访谈 8~10 位同学与机房管理人员，固化功能优先级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346704"/>
            <a:ext cx="53949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" y="3465576"/>
            <a:ext cx="146304" cy="1463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429000"/>
            <a:ext cx="4892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用 draw.io 完成全部用例图并导出 PNG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781044"/>
            <a:ext cx="53949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" y="3899915"/>
            <a:ext cx="146304" cy="1463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863339"/>
            <a:ext cx="4892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完成需求分析报告（文档模板1）八章内容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215383"/>
            <a:ext cx="53949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" y="4334255"/>
            <a:ext cx="146304" cy="1463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297679"/>
            <a:ext cx="4892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撰写团队周工作总结（文档模板2），含 AI 使用说明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649723"/>
            <a:ext cx="53949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" y="4768595"/>
            <a:ext cx="146304" cy="1463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732019"/>
            <a:ext cx="4892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制作并定稿开题汇报 PPT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084063"/>
            <a:ext cx="53949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" y="5202935"/>
            <a:ext cx="146304" cy="1463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166359"/>
            <a:ext cx="4892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000" b="0">
                <a:solidFill>
                  <a:srgbClr val="263238"/>
                </a:solidFill>
                <a:latin typeface="微软雅黑"/>
              </a:rPr>
              <a:t>所有制品由对应完成人本人上传仓库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1280160"/>
            <a:ext cx="53309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300" b="1">
                <a:solidFill>
                  <a:srgbClr val="0D47A1"/>
                </a:solidFill>
                <a:latin typeface="微软雅黑"/>
              </a:rPr>
              <a:t>二、第二周开发计划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1609344"/>
            <a:ext cx="533095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55080" y="1609344"/>
            <a:ext cx="59436" cy="129844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65392" y="171907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00" b="1">
                <a:solidFill>
                  <a:srgbClr val="1976D2"/>
                </a:solidFill>
                <a:latin typeface="微软雅黑"/>
              </a:rPr>
              <a:t>周一 ~ 周二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1719072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00" b="1">
                <a:solidFill>
                  <a:srgbClr val="263238"/>
                </a:solidFill>
                <a:latin typeface="微软雅黑"/>
              </a:rPr>
              <a:t>环境搭建与数据库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2048256"/>
            <a:ext cx="498348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· 搭建 Tauri + React 工程骨架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· 执行建表脚本，初始化测试数据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· 冻结命令接口与事件协议（接口先行）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3035808"/>
            <a:ext cx="533095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55080" y="3035808"/>
            <a:ext cx="59436" cy="12984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65392" y="3145536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00" b="1">
                <a:solidFill>
                  <a:srgbClr val="2E7D32"/>
                </a:solidFill>
                <a:latin typeface="微软雅黑"/>
              </a:rPr>
              <a:t>周三 ~ 周四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3145536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00" b="1">
                <a:solidFill>
                  <a:srgbClr val="263238"/>
                </a:solidFill>
                <a:latin typeface="微软雅黑"/>
              </a:rPr>
              <a:t>F1、F2 开发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65392" y="3474720"/>
            <a:ext cx="498348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· 剪贴板监听与多格式读取（F1 全部）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· 数据库读写与图片外置存储（F2 全部）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· 内容类型识别（F4-1/F4-2，供其余线调用）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4462272"/>
            <a:ext cx="533095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55080" y="4462272"/>
            <a:ext cx="59436" cy="129844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65392" y="45720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00" b="1">
                <a:solidFill>
                  <a:srgbClr val="E65100"/>
                </a:solidFill>
                <a:latin typeface="微软雅黑"/>
              </a:rPr>
              <a:t>周五 ~ 周日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4572000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200" b="1">
                <a:solidFill>
                  <a:srgbClr val="263238"/>
                </a:solidFill>
                <a:latin typeface="微软雅黑"/>
              </a:rPr>
              <a:t>F6、F4 开发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65392" y="4901184"/>
            <a:ext cx="498348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· ★ 内容指纹与重复内容合并（F6 全部）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· 分类筛选与列表虚拟滚动（F4 全部）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altLang="zh-CN" sz="950" b="0">
                <a:solidFill>
                  <a:srgbClr val="263238"/>
                </a:solidFill>
                <a:latin typeface="微软雅黑"/>
              </a:rPr>
              <a:t>· 编写去重与回声抑制的专项测试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55080" y="5779008"/>
            <a:ext cx="5330952" cy="54864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55080" y="5888736"/>
            <a:ext cx="53309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1">
                <a:solidFill>
                  <a:srgbClr val="2E7D32"/>
                </a:solidFill>
                <a:latin typeface="微软雅黑"/>
              </a:rPr>
              <a:t>第二周关键里程碑：跑通「复制 → 入库 → 列表显示 → 双击粘贴」主链路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4023360"/>
            <a:ext cx="3840480" cy="3840480"/>
          </a:xfrm>
          <a:prstGeom prst="ellipse">
            <a:avLst/>
          </a:prstGeom>
          <a:solidFill>
            <a:srgbClr val="113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0" y="-1463040"/>
            <a:ext cx="3657600" cy="3657600"/>
          </a:xfrm>
          <a:prstGeom prst="ellipse">
            <a:avLst/>
          </a:prstGeom>
          <a:solidFill>
            <a:srgbClr val="113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altLang="en-US" sz="4400" b="1" dirty="0">
                <a:solidFill>
                  <a:srgbClr val="FFFFFF"/>
                </a:solidFill>
                <a:latin typeface="微软雅黑"/>
              </a:rPr>
              <a:t>感谢</a:t>
            </a:r>
            <a:r>
              <a:rPr altLang="zh-CN" sz="4400" b="1" dirty="0" err="1">
                <a:solidFill>
                  <a:srgbClr val="FFFFFF"/>
                </a:solidFill>
                <a:latin typeface="微软雅黑"/>
              </a:rPr>
              <a:t>老师指导</a:t>
            </a:r>
            <a:endParaRPr altLang="zh-CN" sz="44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2560320"/>
            <a:ext cx="3108960" cy="32004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600" b="0">
                <a:solidFill>
                  <a:srgbClr val="BBDEFB"/>
                </a:solidFill>
                <a:latin typeface="微软雅黑"/>
              </a:rPr>
              <a:t>剪贴板Pro —— 单机剪贴板管理器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altLang="zh-CN" sz="1600" b="0">
                <a:solidFill>
                  <a:srgbClr val="BBDEFB"/>
                </a:solidFill>
                <a:latin typeface="微软雅黑"/>
              </a:rPr>
              <a:t>把剪贴板从「临时缓冲区」变成「本地优先、可检索、可组织的碎片信息库」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096512"/>
            <a:ext cx="2331720" cy="658368"/>
          </a:xfrm>
          <a:prstGeom prst="roundRect">
            <a:avLst/>
          </a:prstGeom>
          <a:solidFill>
            <a:srgbClr val="15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0">
                <a:solidFill>
                  <a:srgbClr val="FFFFFF"/>
                </a:solidFill>
                <a:latin typeface="微软雅黑"/>
              </a:rPr>
              <a:t>课题意义与竞品分析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4096512"/>
            <a:ext cx="2331720" cy="658368"/>
          </a:xfrm>
          <a:prstGeom prst="roundRect">
            <a:avLst/>
          </a:prstGeom>
          <a:solidFill>
            <a:srgbClr val="15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425196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0">
                <a:solidFill>
                  <a:srgbClr val="FFFFFF"/>
                </a:solidFill>
                <a:latin typeface="微软雅黑"/>
              </a:rPr>
              <a:t>需求详细介绍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096512"/>
            <a:ext cx="2331720" cy="658368"/>
          </a:xfrm>
          <a:prstGeom prst="roundRect">
            <a:avLst/>
          </a:prstGeom>
          <a:solidFill>
            <a:srgbClr val="15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425196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0">
                <a:solidFill>
                  <a:srgbClr val="FFFFFF"/>
                </a:solidFill>
                <a:latin typeface="微软雅黑"/>
              </a:rPr>
              <a:t>技术选型与可行性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4096512"/>
            <a:ext cx="2331720" cy="658368"/>
          </a:xfrm>
          <a:prstGeom prst="roundRect">
            <a:avLst/>
          </a:prstGeom>
          <a:solidFill>
            <a:srgbClr val="15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3960" y="425196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altLang="zh-CN" sz="1150" b="0">
                <a:solidFill>
                  <a:srgbClr val="FFFFFF"/>
                </a:solidFill>
                <a:latin typeface="微软雅黑"/>
              </a:rPr>
              <a:t>第二周工作安排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70448"/>
            <a:ext cx="100584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altLang="zh-CN" sz="1150" b="0" dirty="0" err="1">
                <a:solidFill>
                  <a:srgbClr val="90CAF9"/>
                </a:solidFill>
                <a:latin typeface="微软雅黑"/>
              </a:rPr>
              <a:t>汇报人</a:t>
            </a:r>
            <a:r>
              <a:rPr altLang="zh-CN" sz="1150" b="0" dirty="0">
                <a:solidFill>
                  <a:srgbClr val="90CAF9"/>
                </a:solidFill>
                <a:latin typeface="微软雅黑"/>
              </a:rPr>
              <a:t>：</a:t>
            </a:r>
            <a:r>
              <a:rPr lang="zh-CN" altLang="en-US" sz="1150" b="0" dirty="0">
                <a:solidFill>
                  <a:srgbClr val="90CAF9"/>
                </a:solidFill>
                <a:latin typeface="微软雅黑"/>
              </a:rPr>
              <a:t>张龙飞</a:t>
            </a:r>
            <a:r>
              <a:rPr altLang="zh-CN" sz="1150" b="0" dirty="0">
                <a:solidFill>
                  <a:srgbClr val="90CAF9"/>
                </a:solidFill>
                <a:latin typeface="微软雅黑"/>
              </a:rPr>
              <a:t>　｜　</a:t>
            </a:r>
            <a:r>
              <a:rPr altLang="zh-CN" sz="1150" b="0" dirty="0" err="1">
                <a:solidFill>
                  <a:srgbClr val="90CAF9"/>
                </a:solidFill>
                <a:latin typeface="微软雅黑"/>
              </a:rPr>
              <a:t>团队成员</a:t>
            </a:r>
            <a:r>
              <a:rPr altLang="zh-CN" sz="1150" b="0" dirty="0">
                <a:solidFill>
                  <a:srgbClr val="90CAF9"/>
                </a:solidFill>
                <a:latin typeface="微软雅黑"/>
              </a:rPr>
              <a:t>：</a:t>
            </a:r>
            <a:r>
              <a:rPr lang="zh-CN" altLang="en-US" sz="1150" b="0" dirty="0">
                <a:solidFill>
                  <a:srgbClr val="90CAF9"/>
                </a:solidFill>
                <a:latin typeface="微软雅黑"/>
              </a:rPr>
              <a:t>杭咏毅  黄子安  周鹏波</a:t>
            </a:r>
            <a:r>
              <a:rPr altLang="zh-CN" sz="1150" b="0" dirty="0">
                <a:solidFill>
                  <a:srgbClr val="90CAF9"/>
                </a:solidFill>
                <a:latin typeface="微软雅黑"/>
              </a:rPr>
              <a:t>　｜　2026 年 9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2626</Words>
  <Application>Microsoft Office PowerPoint</Application>
  <PresentationFormat>宽屏</PresentationFormat>
  <Paragraphs>617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Butterfly Bloody</cp:lastModifiedBy>
  <cp:revision>6</cp:revision>
  <dcterms:created xsi:type="dcterms:W3CDTF">2013-01-27T09:14:16Z</dcterms:created>
  <dcterms:modified xsi:type="dcterms:W3CDTF">2026-09-12T03:31:24Z</dcterms:modified>
  <cp:category/>
</cp:coreProperties>
</file>